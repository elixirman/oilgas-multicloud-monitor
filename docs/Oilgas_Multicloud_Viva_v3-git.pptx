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4" r:id="rId5"/>
    <p:sldId id="260" r:id="rId6"/>
    <p:sldId id="261" r:id="rId7"/>
    <p:sldId id="262" r:id="rId8"/>
    <p:sldId id="263" r:id="rId9"/>
    <p:sldId id="264" r:id="rId10"/>
    <p:sldId id="265" r:id="rId11"/>
    <p:sldId id="266" r:id="rId12"/>
    <p:sldId id="267" r:id="rId13"/>
    <p:sldId id="271" r:id="rId14"/>
    <p:sldId id="273" r:id="rId15"/>
    <p:sldId id="268" r:id="rId16"/>
    <p:sldId id="269" r:id="rId17"/>
    <p:sldId id="270" r:id="rId18"/>
    <p:sldId id="27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10"/>
  </p:normalViewPr>
  <p:slideViewPr>
    <p:cSldViewPr snapToGrid="0" snapToObjects="1">
      <p:cViewPr varScale="1">
        <p:scale>
          <a:sx n="86" d="100"/>
          <a:sy n="86" d="100"/>
        </p:scale>
        <p:origin x="56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77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Good [morning/afternoon]. We are Group 9, and this is our capstone: a multi-cloud monitoring platform for oil and gas pipelines.</a:t>
            </a:r>
          </a:p>
          <a:p>
            <a:endParaRPr/>
          </a:p>
          <a:p>
            <a:r>
              <a:t>In short, a field site on Azure sends sensor data over a private VPN to AWS, where a Kubernetes application stores it and shows it on a live dashboard. I am [name], and with me are [names and roles].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The problem is simple. A remote field site produces pipeline readings: pressure, temperature, flow and vibration. Headquarters needs those readings live, over a private link, on a dashboard that anyone can open.</a:t>
            </a:r>
          </a:p>
          <a:p>
            <a:endParaRPr/>
          </a:p>
          <a:p>
            <a:r>
              <a:t>We set four goals. First, a private link between Azure and AWS. Second, a containerised application at headquarters on Kubernetes. Third, a public dashboard with HTTPS. And fourth, a build that is automated and repeatable: GitHub Actions today, Terraform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is the whole design on one page. Start on the left. Users open the dashboard in a browser over HTTPS through CloudFront. CloudFront passes plain HTTP to an Application Load Balancer inside our AWS network. The load balancer sends traffic to the dashboard pods on our EKS cluster.</a:t>
            </a:r>
          </a:p>
          <a:p>
            <a:endParaRPr/>
          </a:p>
          <a:p>
            <a:r>
              <a:t>On the right is the field site on Azure: a virtual machine running a sensor container. It sends readings through the IPsec VPN tunnel to an internal load balancer, then to the API, which stores them in Postgres.</a:t>
            </a:r>
          </a:p>
          <a:p>
            <a:endParaRPr/>
          </a:p>
          <a:p>
            <a:r>
              <a:t>The orange arrows are sensor data going to headquarters. The blue arrows are replies coming back. The dashed line along the bottom is our delivery pipeline: GitHub, GitHub Actions and Docker Hub.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50F05-12EA-2831-2775-018BB6544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5623E-3544-7A80-EE43-F577C5602A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FCE33C-4A6C-45AE-5CE7-AA3EDB68D0D6}"/>
              </a:ext>
            </a:extLst>
          </p:cNvPr>
          <p:cNvSpPr>
            <a:spLocks noGrp="1"/>
          </p:cNvSpPr>
          <p:nvPr>
            <p:ph type="body" idx="1"/>
          </p:nvPr>
        </p:nvSpPr>
        <p:spPr/>
        <p:txBody>
          <a:bodyPr/>
          <a:lstStyle/>
          <a:p>
            <a:r>
              <a:t>We started with the networks. On AWS we built a VPC with the range 10.0.0.0 slash 16: two public subnets in two zones, one private subnet, an internet gateway, a NAT gateway and route tables.</a:t>
            </a:r>
          </a:p>
          <a:p>
            <a:endParaRPr/>
          </a:p>
          <a:p>
            <a:r>
              <a:t>On Azure we built a virtual network, 10.1.0.0 slash 16, with a field subnet and a gateway subnet. The two ranges must not overlap, or the VPN cannot route between them.</a:t>
            </a:r>
          </a:p>
          <a:p>
            <a:endParaRPr/>
          </a:p>
          <a:p>
            <a:r>
              <a:t>We also set the firewalls: security groups on AWS and a network security group on Azure, allowing only the ports we need.</a:t>
            </a:r>
          </a:p>
        </p:txBody>
      </p:sp>
      <p:sp>
        <p:nvSpPr>
          <p:cNvPr id="4" name="Slide Number Placeholder 3">
            <a:extLst>
              <a:ext uri="{FF2B5EF4-FFF2-40B4-BE49-F238E27FC236}">
                <a16:creationId xmlns:a16="http://schemas.microsoft.com/office/drawing/2014/main" id="{5C530B6D-3A0F-788D-C90F-1F540281400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70569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The VPN joins the two clouds. On AWS we created a virtual private gateway, a customer gateway and a VPN connection using static routing. On Azure we created a VPN gateway, a local network gateway that describes the AWS address range, and a connection using IKEv2. Both sides use the same pre-shared key.</a:t>
            </a:r>
          </a:p>
          <a:p>
            <a:endParaRPr/>
          </a:p>
          <a:p>
            <a:r>
              <a:t>We also enabled route propagation on the AWS route tables, so AWS knows to send Azure traffic into the tunnel.</a:t>
            </a:r>
          </a:p>
          <a:p>
            <a:endParaRPr/>
          </a:p>
          <a:p>
            <a:r>
              <a:t>These screenshots show the tunnel up on AWS and connected on Azure. The result is that traffic between the clouds never crosses the public internet.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At headquarters everything runs on Amazon EKS: a cluster with four small nodes in the private subnet. Three add-ons matter.</a:t>
            </a:r>
          </a:p>
          <a:p>
            <a:endParaRPr/>
          </a:p>
          <a:p>
            <a:r>
              <a:t>The AWS Load Balancer Controller creates the public and internal load balancers from our Kubernetes files. Metrics-server measures CPU. And the horizontal pod autoscaler adds pods, from two up to five, when CPU passes 70 percent.</a:t>
            </a:r>
          </a:p>
          <a:p>
            <a:endParaRPr/>
          </a:p>
          <a:p>
            <a:r>
              <a:t>Pods pull their images from Docker Hub through the NAT gateway. The controller has its own IAM role, and the application pods need none because they never call AWS.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slide shows exactly how data moves, and the key point is that only the API talks to the database.</a:t>
            </a:r>
          </a:p>
          <a:p>
            <a:endParaRPr/>
          </a:p>
          <a:p>
            <a:r>
              <a:t>First, the write path, in orange. The sensor posts a reading every five seconds: W1. It crosses the VPN and the internal load balancer to the API. The API saves it in Postgres: W2. Postgres confirms: W3. And the API replies received, back along the same path: W4.</a:t>
            </a:r>
          </a:p>
          <a:p>
            <a:endParaRPr/>
          </a:p>
          <a:p>
            <a:r>
              <a:t>Now the read path, in blue. When someone opens the dashboard, the dashboard asks the API for the latest readings: R1. The API asks Postgres: R2. Postgres replies to the API: R3. And the API returns the data to the dashboard: R4.</a:t>
            </a:r>
          </a:p>
          <a:p>
            <a:endParaRPr/>
          </a:p>
          <a:p>
            <a:r>
              <a:t>The dashboard never connects to the database directly.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Two more pieces. First, the public edge. Browsers use HTTPS to CloudFront, which forwards HTTP on port 80 to the load balancer. CloudFront gives us free HTTPS without needing a domain, and we turned caching off so readings stay live.</a:t>
            </a:r>
          </a:p>
          <a:p>
            <a:endParaRPr/>
          </a:p>
          <a:p>
            <a:r>
              <a:t>Second, the pipeline. When a pull request merges to main, GitHub Actions runs the tests, builds three Docker images and pushes them to Docker Hub. The cluster and the field VM pull from there.</a:t>
            </a:r>
          </a:p>
          <a:p>
            <a:endParaRPr/>
          </a:p>
          <a:p>
            <a:r>
              <a:t>We then deploy the manifests with kubectl, so deployment is manual. The pipeline stops at the image push.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For source control we used a GitHub repository, with a feature branch for each piece of work and pull requests merged into main.</a:t>
            </a:r>
          </a:p>
          <a:p>
            <a:endParaRPr/>
          </a:p>
          <a:p>
            <a:r>
              <a:t>Commit messages are tagged by phase, and issues are labelled by phase: network, VPN, app, Kubernetes and edge. These screenshots show the branches and the merged pull requests.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On security: no passwords or keys are in GitHub. The real secret file and the SSH keys are gitignored. Docker Hub credentials sit in GitHub Actions secrets, and database credentials come from a Kubernetes Secret, with only a placeholder example in the repository.</a:t>
            </a:r>
          </a:p>
          <a:p>
            <a:endParaRPr/>
          </a:p>
          <a:p>
            <a:r>
              <a:t>We want to be open about one thing. An early commit contained the real database secret. We found it and removed it from tracking, and the database it protected no longer exists.</a:t>
            </a:r>
          </a:p>
          <a:p>
            <a:endParaRPr/>
          </a:p>
          <a:p>
            <a:r>
              <a:t>For permissions, the load balancer controller has its own role with a scoped policy, the nodes have a node role, and the application pods have none. On the network, the firewalls allow only needed ports, SSH is limited to the admin address, and the VPN encrypts traffic between the clouds.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For monitoring, both the API and the dashboard expose a health endpoint. Kubernetes liveness and readiness probes call it every ten seconds, and restart or hold back a pod that fails.</a:t>
            </a:r>
          </a:p>
          <a:p>
            <a:endParaRPr/>
          </a:p>
          <a:p>
            <a:r>
              <a:t>We read application logs with kubectl logs, and metrics-server feeds CPU numbers to the autoscaler.</a:t>
            </a:r>
          </a:p>
          <a:p>
            <a:endParaRPr/>
          </a:p>
          <a:p>
            <a:r>
              <a:t>Documentation lives in the README: architecture, setup, deployment, environment variables and troubleshooting. We also added a requirements checklist with screenshots and an interactive walkthrough.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Now the proof. These two screenshots show ping working in both directions between headquarters and the field VM. That proves the VPN, the routes and the firewall rules.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1E36-EC82-B278-FADE-B1FF057F0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F774E-002A-D8BC-651A-A49FDC4B33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938F2A-F46B-0E2D-3D74-25CDD3EC0A46}"/>
              </a:ext>
            </a:extLst>
          </p:cNvPr>
          <p:cNvSpPr>
            <a:spLocks noGrp="1"/>
          </p:cNvSpPr>
          <p:nvPr>
            <p:ph type="body" idx="1"/>
          </p:nvPr>
        </p:nvSpPr>
        <p:spPr/>
        <p:txBody>
          <a:bodyPr/>
          <a:lstStyle/>
          <a:p>
            <a:r>
              <a:t>This is our application-level test. We started a simple web server on the HQ test instance, on port 5000. From the field VM in Azure we fetched it with curl, and the page came back. The server log shows the request arriving from the field VM's address. So real application traffic, not just ping, crosses the VPN.</a:t>
            </a:r>
          </a:p>
        </p:txBody>
      </p:sp>
      <p:sp>
        <p:nvSpPr>
          <p:cNvPr id="4" name="Slide Number Placeholder 3">
            <a:extLst>
              <a:ext uri="{FF2B5EF4-FFF2-40B4-BE49-F238E27FC236}">
                <a16:creationId xmlns:a16="http://schemas.microsoft.com/office/drawing/2014/main" id="{A7741F91-09D0-D285-9E2B-6514937BFA2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814554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2C7F-ACBD-D0F6-BDE2-AE8C8E24B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B6383-70F8-7F32-1F60-50A190FCC7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C6B91E-DE8C-6B2F-80A8-1BCA42455BB4}"/>
              </a:ext>
            </a:extLst>
          </p:cNvPr>
          <p:cNvSpPr>
            <a:spLocks noGrp="1"/>
          </p:cNvSpPr>
          <p:nvPr>
            <p:ph type="body" idx="1"/>
          </p:nvPr>
        </p:nvSpPr>
        <p:spPr/>
        <p:txBody>
          <a:bodyPr/>
          <a:lstStyle/>
          <a:p>
            <a:r>
              <a:t>Finally, the live dashboard over HTTPS through CloudFront. The tunnel status shows connected, and the gauges and the live readings table are fed by the sensor readings from the field VM. This is the full chain working end to end.</a:t>
            </a:r>
          </a:p>
        </p:txBody>
      </p:sp>
      <p:sp>
        <p:nvSpPr>
          <p:cNvPr id="4" name="Slide Number Placeholder 3">
            <a:extLst>
              <a:ext uri="{FF2B5EF4-FFF2-40B4-BE49-F238E27FC236}">
                <a16:creationId xmlns:a16="http://schemas.microsoft.com/office/drawing/2014/main" id="{F435C829-4AB0-D3BF-F565-635D880483A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784860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We hit real problems and fixed each one.</a:t>
            </a:r>
          </a:p>
          <a:p>
            <a:endParaRPr/>
          </a:p>
          <a:p>
            <a:r>
              <a:t>Ping failed even with the VPN up. We were missing ICMP rules and route propagation. Pods got stuck pending, because small nodes hold only eleven pods each, so we scaled the node group. One pod showed image pull errors because the manifest used the wrong image name.</a:t>
            </a:r>
          </a:p>
          <a:p>
            <a:endParaRPr/>
          </a:p>
          <a:p>
            <a:r>
              <a:t>The ingress had no load balancer, because the controller's IAM policy was out of date and we needed a second public subnet. The API returned errors until we loaded the database schema. The autoscaler showed unknown until we added CPU requests to the pods. And we found a secret committed to the repository and removed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Cost control. The NAT gateway, EKS, the nodes and the Azure VPN gateway all bill by the hour, so after testing we tore everything down in order: CloudFront, the load balancer services, the cluster, the VPN, the NAT gateway, the Azure resource group and finally the VPC. We verified that nothing was left running.</a:t>
            </a:r>
          </a:p>
          <a:p>
            <a:endParaRPr/>
          </a:p>
          <a:p>
            <a:r>
              <a:t>Terraform files for AWS and Azure are in progress, so the same design can be rebuilt from code on a separate branch.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What we learned: plan pod capacity before choosing node sizes. Firewall and route rules matter as much as the VPN. Keep secrets out of Git from day one. And check image names and IAM policies early.</a:t>
            </a:r>
          </a:p>
          <a:p>
            <a:endParaRPr/>
          </a:p>
          <a:p>
            <a:r>
              <a:t>Our next steps are a persistent volume for Postgres, loading the schema automatically, a second tunnel and NAT gateway for failover, finishing the Terraform replica, and moving secrets to a managed store.</a:t>
            </a:r>
          </a:p>
          <a:p>
            <a:endParaRPr/>
          </a:p>
          <a:p>
            <a:r>
              <a:t>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1AAFD-7AEF-69D3-41B4-E9C2BABEE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40192-A5AD-C696-3089-D5F5F1C2CBC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F43AB5-6D03-A91C-7106-25B6F56D82B7}"/>
              </a:ext>
            </a:extLst>
          </p:cNvPr>
          <p:cNvSpPr>
            <a:spLocks noGrp="1"/>
          </p:cNvSpPr>
          <p:nvPr>
            <p:ph type="body" idx="1"/>
          </p:nvPr>
        </p:nvSpPr>
        <p:spPr/>
        <p:txBody>
          <a:bodyPr/>
          <a:lstStyle/>
          <a:p>
            <a:r>
              <a:t>What we learned: plan pod capacity before choosing node sizes. Firewall and route rules matter as much as the VPN. Keep secrets out of Git from day one. And check image names and IAM policies early.</a:t>
            </a:r>
          </a:p>
          <a:p>
            <a:endParaRPr/>
          </a:p>
          <a:p>
            <a:r>
              <a:t>Our next steps are a persistent volume for Postgres, loading the schema automatically, a second tunnel and NAT gateway for failover, finishing the Terraform replica, and moving secrets to a managed store.</a:t>
            </a:r>
          </a:p>
          <a:p>
            <a:endParaRPr/>
          </a:p>
          <a:p>
            <a:r>
              <a:t>Thank you. We are happy to take questions.</a:t>
            </a:r>
          </a:p>
        </p:txBody>
      </p:sp>
      <p:sp>
        <p:nvSpPr>
          <p:cNvPr id="4" name="Slide Number Placeholder 3">
            <a:extLst>
              <a:ext uri="{FF2B5EF4-FFF2-40B4-BE49-F238E27FC236}">
                <a16:creationId xmlns:a16="http://schemas.microsoft.com/office/drawing/2014/main" id="{62DE0F1B-3585-34D6-A403-ABF299EA454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627179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chemeClr val="accent1"/>
          </a:solidFill>
          <a:ln/>
        </p:spPr>
        <p:txBody>
          <a:bodyPr/>
          <a:lstStyle/>
          <a:p>
            <a:endParaRPr lang="en-US"/>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chemeClr val="accent1"/>
          </a:solidFill>
          <a:ln/>
        </p:spPr>
        <p:txBody>
          <a:bodyPr/>
          <a:lstStyle/>
          <a:p>
            <a:endParaRPr lang="en-US"/>
          </a:p>
        </p:txBody>
      </p:sp>
      <p:sp>
        <p:nvSpPr>
          <p:cNvPr id="3" name="Text 1"/>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Group 9  |  Multi-Cloud Oil &amp; Gas Monitor</a:t>
            </a:r>
            <a:endParaRPr lang="en-US" sz="1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hyperlink" Target="https://github.com/ZeroMerge" TargetMode="External"/><Relationship Id="rId3" Type="http://schemas.openxmlformats.org/officeDocument/2006/relationships/hyperlink" Target="https://github.com/bamiontop" TargetMode="External"/><Relationship Id="rId7" Type="http://schemas.openxmlformats.org/officeDocument/2006/relationships/hyperlink" Target="https://github.com/JUSTICEESTHER"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github.com/pamisijohn" TargetMode="External"/><Relationship Id="rId5" Type="http://schemas.openxmlformats.org/officeDocument/2006/relationships/hyperlink" Target="https://github.com/Enyeneobong" TargetMode="External"/><Relationship Id="rId4" Type="http://schemas.openxmlformats.org/officeDocument/2006/relationships/hyperlink" Target="https://github.com/olawaleidrisakinola-arch" TargetMode="External"/><Relationship Id="rId9" Type="http://schemas.openxmlformats.org/officeDocument/2006/relationships/hyperlink" Target="https://github.com/mbkusharki"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01336" y="-868680"/>
            <a:ext cx="11036719" cy="1737360"/>
          </a:xfrm>
          <a:prstGeom prst="rect">
            <a:avLst/>
          </a:prstGeom>
          <a:noFill/>
          <a:ln/>
        </p:spPr>
        <p:txBody>
          <a:bodyPr wrap="square" lIns="0" tIns="0" rIns="0" bIns="0" rtlCol="0" anchor="b"/>
          <a:lstStyle/>
          <a:p>
            <a:pPr marL="0" indent="0" algn="l">
              <a:buNone/>
            </a:pPr>
            <a:r>
              <a:rPr lang="en-US" sz="4000" b="1" u="sng" dirty="0">
                <a:solidFill>
                  <a:schemeClr val="bg1"/>
                </a:solidFill>
              </a:rPr>
              <a:t>Multi-Cloud Oil &amp; Gas Pipeline Monitoring Platform</a:t>
            </a:r>
            <a:endParaRPr lang="en-US" sz="4000" u="sng" dirty="0"/>
          </a:p>
        </p:txBody>
      </p:sp>
      <p:sp>
        <p:nvSpPr>
          <p:cNvPr id="3" name="Text 1"/>
          <p:cNvSpPr txBox="1"/>
          <p:nvPr/>
        </p:nvSpPr>
        <p:spPr>
          <a:xfrm>
            <a:off x="1053780" y="1487897"/>
            <a:ext cx="10515600" cy="1280160"/>
          </a:xfrm>
          <a:prstGeom prst="rect">
            <a:avLst/>
          </a:prstGeom>
          <a:noFill/>
          <a:ln/>
        </p:spPr>
        <p:txBody>
          <a:bodyPr wrap="square" lIns="0" tIns="0" rIns="0" bIns="0" rtlCol="0" anchor="t"/>
          <a:lstStyle/>
          <a:p>
            <a:r>
              <a:rPr lang="en-US" sz="2800" b="1" dirty="0">
                <a:solidFill>
                  <a:srgbClr val="FFFF00"/>
                </a:solidFill>
              </a:rPr>
              <a:t>Group 9 Capstone Project: </a:t>
            </a:r>
          </a:p>
          <a:p>
            <a:endParaRPr lang="en-US" sz="2000" dirty="0">
              <a:solidFill>
                <a:schemeClr val="bg2"/>
              </a:solidFill>
            </a:endParaRPr>
          </a:p>
          <a:p>
            <a:r>
              <a:rPr lang="en-US" sz="2400" dirty="0">
                <a:solidFill>
                  <a:schemeClr val="bg1"/>
                </a:solidFill>
              </a:rPr>
              <a:t>Multi-cloud oil &amp; gas pipeline monitoring platform. AWS (EKS, ALB, CloudFront) + Azure (</a:t>
            </a:r>
            <a:r>
              <a:rPr lang="en-US" sz="2400" dirty="0" err="1">
                <a:solidFill>
                  <a:schemeClr val="bg1"/>
                </a:solidFill>
              </a:rPr>
              <a:t>VNet</a:t>
            </a:r>
            <a:r>
              <a:rPr lang="en-US" sz="2400" dirty="0">
                <a:solidFill>
                  <a:schemeClr val="bg1"/>
                </a:solidFill>
              </a:rPr>
              <a:t>) connected via IPsec VPN. Flask microservices, PostgreSQL, Docker, GitHub Actions CI/CD.</a:t>
            </a:r>
            <a:endParaRPr lang="en-US" sz="2800" dirty="0">
              <a:solidFill>
                <a:schemeClr val="bg1"/>
              </a:solidFill>
            </a:endParaRPr>
          </a:p>
          <a:p>
            <a:pPr marL="0" indent="0" algn="l">
              <a:buNone/>
            </a:pPr>
            <a:endParaRPr lang="en-US" sz="2000" dirty="0"/>
          </a:p>
          <a:p>
            <a:pPr marL="0" indent="0" algn="l">
              <a:buNone/>
            </a:pPr>
            <a:r>
              <a:rPr lang="en-US" sz="2800" b="1" dirty="0">
                <a:solidFill>
                  <a:srgbClr val="FF0000"/>
                </a:solidFill>
              </a:rPr>
              <a:t>Presented by Group 9: </a:t>
            </a:r>
          </a:p>
          <a:p>
            <a:pPr marL="0" indent="0" algn="l">
              <a:buNone/>
            </a:pPr>
            <a:r>
              <a:rPr lang="en-US" sz="2400" dirty="0">
                <a:solidFill>
                  <a:schemeClr val="bg2"/>
                </a:solidFill>
              </a:rPr>
              <a:t>Cpt. Adesanya Oluwaseun Michael</a:t>
            </a:r>
          </a:p>
          <a:p>
            <a:pPr marL="0" indent="0" algn="l">
              <a:buNone/>
            </a:pPr>
            <a:r>
              <a:rPr lang="en-US" sz="2400" dirty="0">
                <a:solidFill>
                  <a:schemeClr val="bg2"/>
                </a:solidFill>
              </a:rPr>
              <a:t>John Pamisi</a:t>
            </a:r>
          </a:p>
          <a:p>
            <a:pPr marL="0" indent="0" algn="l">
              <a:buNone/>
            </a:pPr>
            <a:endParaRPr lang="en-US" sz="2000" dirty="0">
              <a:solidFill>
                <a:schemeClr val="bg2"/>
              </a:solidFill>
            </a:endParaRPr>
          </a:p>
          <a:p>
            <a:pPr marL="0" indent="0" algn="l">
              <a:buNone/>
            </a:pPr>
            <a:endParaRPr lang="en-US" sz="2000" dirty="0">
              <a:solidFill>
                <a:schemeClr val="bg2"/>
              </a:solidFill>
            </a:endParaRPr>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u="sng" dirty="0">
                <a:solidFill>
                  <a:schemeClr val="tx2"/>
                </a:solidFill>
              </a:rPr>
              <a:t>The problem and what we set out to build</a:t>
            </a:r>
            <a:endParaRPr lang="en-US" sz="3000" u="sng" dirty="0"/>
          </a:p>
        </p:txBody>
      </p:sp>
      <p:sp>
        <p:nvSpPr>
          <p:cNvPr id="3" name="Text 1"/>
          <p:cNvSpPr txBox="1"/>
          <p:nvPr/>
        </p:nvSpPr>
        <p:spPr>
          <a:xfrm>
            <a:off x="548640" y="1280160"/>
            <a:ext cx="5120640" cy="1371600"/>
          </a:xfrm>
          <a:prstGeom prst="rect">
            <a:avLst/>
          </a:prstGeom>
          <a:noFill/>
          <a:ln/>
        </p:spPr>
        <p:txBody>
          <a:bodyPr wrap="square" lIns="0" tIns="0" rIns="0" bIns="0" rtlCol="0" anchor="t"/>
          <a:lstStyle/>
          <a:p>
            <a:pPr marL="0" indent="0">
              <a:buNone/>
            </a:pPr>
            <a:r>
              <a:rPr lang="en-US" sz="1800" dirty="0">
                <a:solidFill>
                  <a:schemeClr val="tx1"/>
                </a:solidFill>
              </a:rPr>
              <a:t>A remote field site produces pipeline readings (pressure, temperature, flow, vibration). HQ needs them live, over a private link, on a dashboard people can open from anywhere.</a:t>
            </a:r>
            <a:endParaRPr lang="en-US" sz="1800" dirty="0"/>
          </a:p>
        </p:txBody>
      </p:sp>
      <p:sp>
        <p:nvSpPr>
          <p:cNvPr id="4" name="Shape 2"/>
          <p:cNvSpPr/>
          <p:nvPr/>
        </p:nvSpPr>
        <p:spPr>
          <a:xfrm>
            <a:off x="6126480" y="1280160"/>
            <a:ext cx="2651760" cy="2011680"/>
          </a:xfrm>
          <a:prstGeom prst="roundRect">
            <a:avLst>
              <a:gd name="adj" fmla="val 3636"/>
            </a:avLst>
          </a:prstGeom>
          <a:solidFill>
            <a:schemeClr val="bg2"/>
          </a:solidFill>
          <a:ln w="19050">
            <a:solidFill>
              <a:schemeClr val="accent3"/>
            </a:solidFill>
            <a:prstDash val="solid"/>
          </a:ln>
        </p:spPr>
        <p:txBody>
          <a:bodyPr/>
          <a:lstStyle/>
          <a:p>
            <a:endParaRPr lang="en-US"/>
          </a:p>
        </p:txBody>
      </p:sp>
      <p:sp>
        <p:nvSpPr>
          <p:cNvPr id="5" name="Text 3"/>
          <p:cNvSpPr txBox="1"/>
          <p:nvPr/>
        </p:nvSpPr>
        <p:spPr>
          <a:xfrm>
            <a:off x="6355080" y="1417320"/>
            <a:ext cx="2194560" cy="411480"/>
          </a:xfrm>
          <a:prstGeom prst="rect">
            <a:avLst/>
          </a:prstGeom>
          <a:noFill/>
          <a:ln/>
        </p:spPr>
        <p:txBody>
          <a:bodyPr wrap="square" lIns="0" tIns="0" rIns="0" bIns="0" rtlCol="0" anchor="ctr"/>
          <a:lstStyle/>
          <a:p>
            <a:pPr marL="0" indent="0">
              <a:buNone/>
            </a:pPr>
            <a:r>
              <a:rPr lang="en-US" sz="1900" b="1" dirty="0">
                <a:solidFill>
                  <a:schemeClr val="tx2"/>
                </a:solidFill>
              </a:rPr>
              <a:t>Private link</a:t>
            </a:r>
            <a:endParaRPr lang="en-US" sz="1900" dirty="0"/>
          </a:p>
        </p:txBody>
      </p:sp>
      <p:sp>
        <p:nvSpPr>
          <p:cNvPr id="6" name="Text 4"/>
          <p:cNvSpPr txBox="1"/>
          <p:nvPr/>
        </p:nvSpPr>
        <p:spPr>
          <a:xfrm>
            <a:off x="6355080" y="1920240"/>
            <a:ext cx="2194560" cy="123444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IPsec site-to-site VPN between Azure and AWS</a:t>
            </a:r>
            <a:endParaRPr lang="en-US" sz="1600" dirty="0"/>
          </a:p>
        </p:txBody>
      </p:sp>
      <p:sp>
        <p:nvSpPr>
          <p:cNvPr id="7" name="Shape 5"/>
          <p:cNvSpPr/>
          <p:nvPr/>
        </p:nvSpPr>
        <p:spPr>
          <a:xfrm>
            <a:off x="8961120" y="1280160"/>
            <a:ext cx="2651760" cy="2011680"/>
          </a:xfrm>
          <a:prstGeom prst="roundRect">
            <a:avLst>
              <a:gd name="adj" fmla="val 3636"/>
            </a:avLst>
          </a:prstGeom>
          <a:solidFill>
            <a:schemeClr val="bg2"/>
          </a:solidFill>
          <a:ln w="19050">
            <a:solidFill>
              <a:schemeClr val="accent2"/>
            </a:solidFill>
            <a:prstDash val="solid"/>
          </a:ln>
        </p:spPr>
        <p:txBody>
          <a:bodyPr/>
          <a:lstStyle/>
          <a:p>
            <a:endParaRPr lang="en-US"/>
          </a:p>
        </p:txBody>
      </p:sp>
      <p:sp>
        <p:nvSpPr>
          <p:cNvPr id="8" name="Text 6"/>
          <p:cNvSpPr txBox="1"/>
          <p:nvPr/>
        </p:nvSpPr>
        <p:spPr>
          <a:xfrm>
            <a:off x="9189720" y="1417320"/>
            <a:ext cx="2194560" cy="411480"/>
          </a:xfrm>
          <a:prstGeom prst="rect">
            <a:avLst/>
          </a:prstGeom>
          <a:noFill/>
          <a:ln/>
        </p:spPr>
        <p:txBody>
          <a:bodyPr wrap="square" lIns="0" tIns="0" rIns="0" bIns="0" rtlCol="0" anchor="ctr"/>
          <a:lstStyle/>
          <a:p>
            <a:pPr marL="0" indent="0">
              <a:buNone/>
            </a:pPr>
            <a:r>
              <a:rPr lang="en-US" sz="1900" b="1" dirty="0">
                <a:solidFill>
                  <a:schemeClr val="tx2"/>
                </a:solidFill>
              </a:rPr>
              <a:t>Containerised HQ</a:t>
            </a:r>
            <a:endParaRPr lang="en-US" sz="1900" dirty="0"/>
          </a:p>
        </p:txBody>
      </p:sp>
      <p:sp>
        <p:nvSpPr>
          <p:cNvPr id="9" name="Text 7"/>
          <p:cNvSpPr txBox="1"/>
          <p:nvPr/>
        </p:nvSpPr>
        <p:spPr>
          <a:xfrm>
            <a:off x="9189720" y="1920240"/>
            <a:ext cx="2194560" cy="123444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EKS runs API, database and dashboard</a:t>
            </a:r>
            <a:endParaRPr lang="en-US" sz="1600" dirty="0"/>
          </a:p>
        </p:txBody>
      </p:sp>
      <p:sp>
        <p:nvSpPr>
          <p:cNvPr id="10" name="Shape 8"/>
          <p:cNvSpPr/>
          <p:nvPr/>
        </p:nvSpPr>
        <p:spPr>
          <a:xfrm>
            <a:off x="6126480" y="3474720"/>
            <a:ext cx="2651760" cy="2011680"/>
          </a:xfrm>
          <a:prstGeom prst="roundRect">
            <a:avLst>
              <a:gd name="adj" fmla="val 3636"/>
            </a:avLst>
          </a:prstGeom>
          <a:solidFill>
            <a:schemeClr val="bg2"/>
          </a:solidFill>
          <a:ln w="19050">
            <a:solidFill>
              <a:schemeClr val="accent1"/>
            </a:solidFill>
            <a:prstDash val="solid"/>
          </a:ln>
        </p:spPr>
        <p:txBody>
          <a:bodyPr/>
          <a:lstStyle/>
          <a:p>
            <a:endParaRPr lang="en-US"/>
          </a:p>
        </p:txBody>
      </p:sp>
      <p:sp>
        <p:nvSpPr>
          <p:cNvPr id="11" name="Text 9"/>
          <p:cNvSpPr txBox="1"/>
          <p:nvPr/>
        </p:nvSpPr>
        <p:spPr>
          <a:xfrm>
            <a:off x="6355080" y="3611880"/>
            <a:ext cx="2194560" cy="411480"/>
          </a:xfrm>
          <a:prstGeom prst="rect">
            <a:avLst/>
          </a:prstGeom>
          <a:noFill/>
          <a:ln/>
        </p:spPr>
        <p:txBody>
          <a:bodyPr wrap="square" lIns="0" tIns="0" rIns="0" bIns="0" rtlCol="0" anchor="ctr"/>
          <a:lstStyle/>
          <a:p>
            <a:pPr marL="0" indent="0">
              <a:buNone/>
            </a:pPr>
            <a:r>
              <a:rPr lang="en-US" sz="1900" b="1" dirty="0">
                <a:solidFill>
                  <a:schemeClr val="tx2"/>
                </a:solidFill>
              </a:rPr>
              <a:t>Public HTTPS dashboard</a:t>
            </a:r>
            <a:endParaRPr lang="en-US" sz="1900" dirty="0"/>
          </a:p>
        </p:txBody>
      </p:sp>
      <p:sp>
        <p:nvSpPr>
          <p:cNvPr id="12" name="Text 10"/>
          <p:cNvSpPr txBox="1"/>
          <p:nvPr/>
        </p:nvSpPr>
        <p:spPr>
          <a:xfrm>
            <a:off x="6355080" y="4114800"/>
            <a:ext cx="2194560" cy="123444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CloudFront in front of an ALB</a:t>
            </a:r>
            <a:endParaRPr lang="en-US" sz="1600" dirty="0"/>
          </a:p>
        </p:txBody>
      </p:sp>
      <p:sp>
        <p:nvSpPr>
          <p:cNvPr id="13" name="Shape 11"/>
          <p:cNvSpPr/>
          <p:nvPr/>
        </p:nvSpPr>
        <p:spPr>
          <a:xfrm>
            <a:off x="8961120" y="3474720"/>
            <a:ext cx="2651760" cy="2011680"/>
          </a:xfrm>
          <a:prstGeom prst="roundRect">
            <a:avLst>
              <a:gd name="adj" fmla="val 3636"/>
            </a:avLst>
          </a:prstGeom>
          <a:solidFill>
            <a:schemeClr val="bg2"/>
          </a:solidFill>
          <a:ln w="19050">
            <a:solidFill>
              <a:schemeClr val="accent4"/>
            </a:solidFill>
            <a:prstDash val="solid"/>
          </a:ln>
        </p:spPr>
        <p:txBody>
          <a:bodyPr/>
          <a:lstStyle/>
          <a:p>
            <a:endParaRPr lang="en-US"/>
          </a:p>
        </p:txBody>
      </p:sp>
      <p:sp>
        <p:nvSpPr>
          <p:cNvPr id="14" name="Text 12"/>
          <p:cNvSpPr txBox="1"/>
          <p:nvPr/>
        </p:nvSpPr>
        <p:spPr>
          <a:xfrm>
            <a:off x="9189720" y="3611880"/>
            <a:ext cx="2194560" cy="411480"/>
          </a:xfrm>
          <a:prstGeom prst="rect">
            <a:avLst/>
          </a:prstGeom>
          <a:noFill/>
          <a:ln/>
        </p:spPr>
        <p:txBody>
          <a:bodyPr wrap="square" lIns="0" tIns="0" rIns="0" bIns="0" rtlCol="0" anchor="ctr"/>
          <a:lstStyle/>
          <a:p>
            <a:pPr marL="0" indent="0">
              <a:buNone/>
            </a:pPr>
            <a:r>
              <a:rPr lang="en-US" sz="1900" b="1" dirty="0">
                <a:solidFill>
                  <a:schemeClr val="tx2"/>
                </a:solidFill>
              </a:rPr>
              <a:t>Automated and repeatable</a:t>
            </a:r>
            <a:endParaRPr lang="en-US" sz="1900" dirty="0"/>
          </a:p>
        </p:txBody>
      </p:sp>
      <p:sp>
        <p:nvSpPr>
          <p:cNvPr id="15" name="Text 13"/>
          <p:cNvSpPr txBox="1"/>
          <p:nvPr/>
        </p:nvSpPr>
        <p:spPr>
          <a:xfrm>
            <a:off x="9189720" y="4114800"/>
            <a:ext cx="2194560" cy="123444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GitHub Actions now, Terraform next</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2</a:t>
            </a:fld>
            <a:endParaRPr lang="en-US"/>
          </a:p>
        </p:txBody>
      </p:sp>
      <p:pic>
        <p:nvPicPr>
          <p:cNvPr id="26" name="Slide 2 illustration" descr="Illustration: field sensors on a pipeline send data over a private IPsec link to a live dashboard"/>
          <p:cNvPicPr>
            <a:picLocks noChangeAspect="1"/>
          </p:cNvPicPr>
          <p:nvPr/>
        </p:nvPicPr>
        <p:blipFill>
          <a:blip r:embed="rId3"/>
          <a:stretch>
            <a:fillRect/>
          </a:stretch>
        </p:blipFill>
        <p:spPr>
          <a:xfrm>
            <a:off x="548640" y="2788920"/>
            <a:ext cx="4718304" cy="2697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3</a:t>
            </a:fld>
            <a:endParaRPr lang="en-US"/>
          </a:p>
        </p:txBody>
      </p:sp>
      <p:pic>
        <p:nvPicPr>
          <p:cNvPr id="10" name="Graphic 9">
            <a:extLst>
              <a:ext uri="{FF2B5EF4-FFF2-40B4-BE49-F238E27FC236}">
                <a16:creationId xmlns:a16="http://schemas.microsoft.com/office/drawing/2014/main" id="{AE3EA97C-502F-AB95-D014-5FB26B83E8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42499"/>
            <a:ext cx="12192000" cy="6173002"/>
          </a:xfrm>
          <a:prstGeom prst="rect">
            <a:avLst/>
          </a:prstGeom>
        </p:spPr>
      </p:pic>
      <p:sp>
        <p:nvSpPr>
          <p:cNvPr id="11" name="Text 0"/>
          <p:cNvSpPr txBox="1"/>
          <p:nvPr/>
        </p:nvSpPr>
        <p:spPr>
          <a:xfrm>
            <a:off x="185942" y="222385"/>
            <a:ext cx="2025884" cy="731520"/>
          </a:xfrm>
          <a:prstGeom prst="rect">
            <a:avLst/>
          </a:prstGeom>
          <a:noFill/>
          <a:ln/>
        </p:spPr>
        <p:txBody>
          <a:bodyPr wrap="square" lIns="0" tIns="0" rIns="0" bIns="0" rtlCol="0" anchor="ctr"/>
          <a:lstStyle/>
          <a:p>
            <a:pPr marL="0" indent="0" algn="l">
              <a:buNone/>
            </a:pPr>
            <a:r>
              <a:rPr lang="en-US" sz="3000" b="1" u="sng" dirty="0">
                <a:solidFill>
                  <a:schemeClr val="bg1"/>
                </a:solidFill>
              </a:rPr>
              <a:t>Architecture</a:t>
            </a:r>
            <a:endParaRPr lang="en-US" sz="3000" u="sng"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810E4-BD7A-30E3-5100-28219ECBCD0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BC5DDC-C366-96A8-ED25-88130BD388D5}"/>
              </a:ext>
            </a:extLst>
          </p:cNvPr>
          <p:cNvSpPr txBox="1"/>
          <p:nvPr/>
        </p:nvSpPr>
        <p:spPr>
          <a:xfrm>
            <a:off x="91440" y="237478"/>
            <a:ext cx="2240280" cy="731520"/>
          </a:xfrm>
          <a:prstGeom prst="rect">
            <a:avLst/>
          </a:prstGeom>
          <a:noFill/>
          <a:ln/>
        </p:spPr>
        <p:txBody>
          <a:bodyPr wrap="square" lIns="0" tIns="0" rIns="0" bIns="0" rtlCol="0" anchor="ctr"/>
          <a:lstStyle/>
          <a:p>
            <a:pPr marL="0" indent="0" algn="ctr">
              <a:buNone/>
            </a:pPr>
            <a:r>
              <a:rPr lang="en-US" sz="2800" b="1" u="sng" dirty="0">
                <a:solidFill>
                  <a:schemeClr val="tx2"/>
                </a:solidFill>
              </a:rPr>
              <a:t>Network </a:t>
            </a:r>
          </a:p>
          <a:p>
            <a:pPr marL="0" indent="0" algn="ctr">
              <a:buNone/>
            </a:pPr>
            <a:r>
              <a:rPr lang="en-US" sz="2800" b="1" u="sng" dirty="0">
                <a:solidFill>
                  <a:schemeClr val="tx2"/>
                </a:solidFill>
              </a:rPr>
              <a:t>foundation</a:t>
            </a:r>
            <a:endParaRPr lang="en-US" sz="2800" u="sng" dirty="0"/>
          </a:p>
        </p:txBody>
      </p:sp>
      <p:sp>
        <p:nvSpPr>
          <p:cNvPr id="3" name="Text 1">
            <a:extLst>
              <a:ext uri="{FF2B5EF4-FFF2-40B4-BE49-F238E27FC236}">
                <a16:creationId xmlns:a16="http://schemas.microsoft.com/office/drawing/2014/main" id="{94A87125-38C9-053C-EF89-87DA9CE32C24}"/>
              </a:ext>
            </a:extLst>
          </p:cNvPr>
          <p:cNvSpPr txBox="1"/>
          <p:nvPr/>
        </p:nvSpPr>
        <p:spPr>
          <a:xfrm>
            <a:off x="144880" y="1053336"/>
            <a:ext cx="2154437" cy="475488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chemeClr val="tx1"/>
                </a:solidFill>
              </a:rPr>
              <a:t>AWS VPC hq-vpc 10.0.0.0/16: public subnets 10.0.1.0/24 and 10.0.3.0/24, private 10.0.2.0/24</a:t>
            </a:r>
            <a:endParaRPr lang="en-US" sz="1400" dirty="0"/>
          </a:p>
          <a:p>
            <a:pPr marL="342900" indent="-342900">
              <a:spcAft>
                <a:spcPts val="1400"/>
              </a:spcAft>
              <a:buSzPct val="100000"/>
              <a:buChar char="•"/>
            </a:pPr>
            <a:r>
              <a:rPr lang="en-US" sz="1400" dirty="0">
                <a:solidFill>
                  <a:schemeClr val="tx1"/>
                </a:solidFill>
              </a:rPr>
              <a:t>Internet gateway, NAT gateway, public and private route tables</a:t>
            </a:r>
            <a:endParaRPr lang="en-US" sz="1400" dirty="0"/>
          </a:p>
          <a:p>
            <a:pPr marL="342900" indent="-342900">
              <a:spcAft>
                <a:spcPts val="1400"/>
              </a:spcAft>
              <a:buSzPct val="100000"/>
              <a:buChar char="•"/>
            </a:pPr>
            <a:r>
              <a:rPr lang="en-US" sz="1400" dirty="0">
                <a:solidFill>
                  <a:schemeClr val="tx1"/>
                </a:solidFill>
              </a:rPr>
              <a:t>Azure VNet field-vnet 10.1.0.0/16: field-subnet 10.1.1.0/24, GatewaySubnet 10.1.2.0/27</a:t>
            </a:r>
            <a:endParaRPr lang="en-US" sz="1400" dirty="0"/>
          </a:p>
          <a:p>
            <a:pPr marL="342900" indent="-342900">
              <a:spcAft>
                <a:spcPts val="1400"/>
              </a:spcAft>
              <a:buSzPct val="100000"/>
              <a:buChar char="•"/>
            </a:pPr>
            <a:r>
              <a:rPr lang="en-US" sz="1400" dirty="0">
                <a:solidFill>
                  <a:schemeClr val="tx1"/>
                </a:solidFill>
              </a:rPr>
              <a:t>Security groups (alb, pod, api, test) and field-nsg allow only needed ports and ICMP</a:t>
            </a:r>
            <a:endParaRPr lang="en-US" sz="1400" dirty="0"/>
          </a:p>
          <a:p>
            <a:pPr marL="342900" indent="-342900">
              <a:spcAft>
                <a:spcPts val="1400"/>
              </a:spcAft>
              <a:buSzPct val="100000"/>
              <a:buChar char="•"/>
            </a:pPr>
            <a:r>
              <a:rPr lang="en-US" sz="1400" b="1" dirty="0">
                <a:solidFill>
                  <a:srgbClr val="FF0000"/>
                </a:solidFill>
              </a:rPr>
              <a:t>Non-overlapping CIDRs, required for the VPN</a:t>
            </a:r>
          </a:p>
        </p:txBody>
      </p:sp>
      <p:sp>
        <p:nvSpPr>
          <p:cNvPr id="25" name="Slide Number Placeholder 0">
            <a:extLst>
              <a:ext uri="{FF2B5EF4-FFF2-40B4-BE49-F238E27FC236}">
                <a16:creationId xmlns:a16="http://schemas.microsoft.com/office/drawing/2014/main" id="{81AF187D-1971-3327-ED9F-1168226F5E61}"/>
              </a:ext>
            </a:extLst>
          </p:cNvPr>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pic>
        <p:nvPicPr>
          <p:cNvPr id="9" name="Picture 8">
            <a:extLst>
              <a:ext uri="{FF2B5EF4-FFF2-40B4-BE49-F238E27FC236}">
                <a16:creationId xmlns:a16="http://schemas.microsoft.com/office/drawing/2014/main" id="{BABD1578-90EF-A37B-E20A-8DD1124966D8}"/>
              </a:ext>
            </a:extLst>
          </p:cNvPr>
          <p:cNvPicPr>
            <a:picLocks noChangeAspect="1"/>
          </p:cNvPicPr>
          <p:nvPr/>
        </p:nvPicPr>
        <p:blipFill>
          <a:blip r:embed="rId3"/>
          <a:stretch>
            <a:fillRect/>
          </a:stretch>
        </p:blipFill>
        <p:spPr>
          <a:xfrm>
            <a:off x="2716568" y="4412202"/>
            <a:ext cx="9401574" cy="2355283"/>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C6510A08-C7DE-3CCE-55BB-4246557E386F}"/>
              </a:ext>
            </a:extLst>
          </p:cNvPr>
          <p:cNvPicPr>
            <a:picLocks noChangeAspect="1"/>
          </p:cNvPicPr>
          <p:nvPr/>
        </p:nvPicPr>
        <p:blipFill>
          <a:blip r:embed="rId4"/>
          <a:stretch>
            <a:fillRect/>
          </a:stretch>
        </p:blipFill>
        <p:spPr>
          <a:xfrm>
            <a:off x="2379216" y="67570"/>
            <a:ext cx="9812785" cy="417595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88398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92031" y="99729"/>
            <a:ext cx="3410801" cy="731520"/>
          </a:xfrm>
          <a:prstGeom prst="rect">
            <a:avLst/>
          </a:prstGeom>
          <a:noFill/>
          <a:ln/>
        </p:spPr>
        <p:txBody>
          <a:bodyPr wrap="square" lIns="0" tIns="0" rIns="0" bIns="0" rtlCol="0" anchor="ctr"/>
          <a:lstStyle/>
          <a:p>
            <a:pPr marL="0" indent="0" algn="l">
              <a:buNone/>
            </a:pPr>
            <a:r>
              <a:rPr lang="en-US" sz="3000" b="1" u="sng" dirty="0">
                <a:solidFill>
                  <a:schemeClr val="tx2"/>
                </a:solidFill>
              </a:rPr>
              <a:t>IPsec site-to-site VPN</a:t>
            </a:r>
            <a:endParaRPr lang="en-US" sz="3000" u="sng"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5</a:t>
            </a:fld>
            <a:endParaRPr lang="en-US"/>
          </a:p>
        </p:txBody>
      </p:sp>
      <p:pic>
        <p:nvPicPr>
          <p:cNvPr id="16" name="Picture 15">
            <a:extLst>
              <a:ext uri="{FF2B5EF4-FFF2-40B4-BE49-F238E27FC236}">
                <a16:creationId xmlns:a16="http://schemas.microsoft.com/office/drawing/2014/main" id="{4D199BE5-F88E-1F09-EBDB-AB609CAF973E}"/>
              </a:ext>
            </a:extLst>
          </p:cNvPr>
          <p:cNvPicPr>
            <a:picLocks noChangeAspect="1"/>
          </p:cNvPicPr>
          <p:nvPr/>
        </p:nvPicPr>
        <p:blipFill>
          <a:blip r:embed="rId3"/>
          <a:stretch>
            <a:fillRect/>
          </a:stretch>
        </p:blipFill>
        <p:spPr>
          <a:xfrm>
            <a:off x="85875" y="999844"/>
            <a:ext cx="12036995" cy="25663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9" name="Picture 18">
            <a:extLst>
              <a:ext uri="{FF2B5EF4-FFF2-40B4-BE49-F238E27FC236}">
                <a16:creationId xmlns:a16="http://schemas.microsoft.com/office/drawing/2014/main" id="{1D8472EB-953D-503F-152F-BE63E0D90D0B}"/>
              </a:ext>
            </a:extLst>
          </p:cNvPr>
          <p:cNvPicPr>
            <a:picLocks noChangeAspect="1"/>
          </p:cNvPicPr>
          <p:nvPr/>
        </p:nvPicPr>
        <p:blipFill>
          <a:blip r:embed="rId4"/>
          <a:stretch>
            <a:fillRect/>
          </a:stretch>
        </p:blipFill>
        <p:spPr>
          <a:xfrm>
            <a:off x="77503" y="3794760"/>
            <a:ext cx="12114497" cy="27850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0" name="Text 1"/>
          <p:cNvSpPr txBox="1"/>
          <p:nvPr/>
        </p:nvSpPr>
        <p:spPr>
          <a:xfrm>
            <a:off x="4108987" y="266878"/>
            <a:ext cx="3974026" cy="1109436"/>
          </a:xfrm>
          <a:prstGeom prst="rect">
            <a:avLst/>
          </a:prstGeom>
          <a:noFill/>
          <a:ln/>
        </p:spPr>
        <p:txBody>
          <a:bodyPr wrap="square" lIns="0" tIns="0" rIns="0" bIns="0" rtlCol="0" anchor="t"/>
          <a:lstStyle/>
          <a:p>
            <a:pPr marL="342900" indent="-342900">
              <a:spcAft>
                <a:spcPts val="1400"/>
              </a:spcAft>
              <a:buSzPct val="100000"/>
              <a:buChar char="•"/>
            </a:pPr>
            <a:r>
              <a:rPr lang="en-US" sz="1400" b="1" dirty="0">
                <a:solidFill>
                  <a:schemeClr val="tx1"/>
                </a:solidFill>
              </a:rPr>
              <a:t>AWS: virtual private gateway, customer gateway, VPN connection (static routing, tunnel 1)</a:t>
            </a:r>
            <a:endParaRPr lang="en-US" sz="1400" b="1" dirty="0"/>
          </a:p>
          <a:p>
            <a:pPr marL="342900" indent="-342900">
              <a:spcAft>
                <a:spcPts val="1400"/>
              </a:spcAft>
              <a:buSzPct val="100000"/>
              <a:buChar char="•"/>
            </a:pPr>
            <a:r>
              <a:rPr lang="en-US" sz="1400" b="1" dirty="0">
                <a:solidFill>
                  <a:schemeClr val="tx1"/>
                </a:solidFill>
              </a:rPr>
              <a:t>Azure: VpnGw1 gateway, local network gateway (10.0.0.0/16), connection field-to-hq (IKEv2)</a:t>
            </a:r>
            <a:endParaRPr lang="en-US" sz="1400" b="1" dirty="0"/>
          </a:p>
        </p:txBody>
      </p:sp>
      <p:sp>
        <p:nvSpPr>
          <p:cNvPr id="21" name="Text 1">
            <a:extLst>
              <a:ext uri="{FF2B5EF4-FFF2-40B4-BE49-F238E27FC236}">
                <a16:creationId xmlns:a16="http://schemas.microsoft.com/office/drawing/2014/main" id="{AC2984F6-5E82-B172-D2D4-4EC6DDB1529D}"/>
              </a:ext>
            </a:extLst>
          </p:cNvPr>
          <p:cNvSpPr txBox="1"/>
          <p:nvPr/>
        </p:nvSpPr>
        <p:spPr>
          <a:xfrm>
            <a:off x="8112786" y="301541"/>
            <a:ext cx="3974026" cy="2801647"/>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Same pre-shared key on both sides</a:t>
            </a:r>
            <a:endParaRPr lang="en-US" sz="1400" b="1" dirty="0"/>
          </a:p>
          <a:p>
            <a:pPr marL="342900" indent="-342900">
              <a:spcAft>
                <a:spcPts val="600"/>
              </a:spcAft>
              <a:buSzPct val="100000"/>
              <a:buChar char="•"/>
            </a:pPr>
            <a:r>
              <a:rPr lang="en-US" sz="1400" b="1" dirty="0">
                <a:solidFill>
                  <a:schemeClr val="tx1"/>
                </a:solidFill>
              </a:rPr>
              <a:t>Route propagation enabled on both AWS route tables</a:t>
            </a:r>
            <a:endParaRPr lang="en-US" sz="1400" b="1" dirty="0"/>
          </a:p>
          <a:p>
            <a:pPr marL="342900" indent="-342900">
              <a:spcAft>
                <a:spcPts val="600"/>
              </a:spcAft>
              <a:buSzPct val="100000"/>
              <a:buChar char="•"/>
            </a:pPr>
            <a:r>
              <a:rPr lang="en-US" sz="1400" b="1" dirty="0">
                <a:solidFill>
                  <a:schemeClr val="tx1"/>
                </a:solidFill>
              </a:rPr>
              <a:t>Result: traffic between clouds never crosses the public internet</a:t>
            </a:r>
            <a:endParaRPr lang="en-US" sz="1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4504127" cy="731520"/>
          </a:xfrm>
          <a:prstGeom prst="rect">
            <a:avLst/>
          </a:prstGeom>
          <a:noFill/>
          <a:ln/>
        </p:spPr>
        <p:txBody>
          <a:bodyPr wrap="square" lIns="0" tIns="0" rIns="0" bIns="0" rtlCol="0" anchor="ctr"/>
          <a:lstStyle/>
          <a:p>
            <a:pPr marL="0" indent="0" algn="l">
              <a:buNone/>
            </a:pPr>
            <a:r>
              <a:rPr lang="en-US" sz="3000" b="1" u="sng" dirty="0">
                <a:solidFill>
                  <a:schemeClr val="tx2"/>
                </a:solidFill>
              </a:rPr>
              <a:t>Kubernetes platform on EKS</a:t>
            </a:r>
            <a:endParaRPr lang="en-US" sz="3000" u="sng" dirty="0"/>
          </a:p>
        </p:txBody>
      </p:sp>
      <p:sp>
        <p:nvSpPr>
          <p:cNvPr id="3" name="Text 1"/>
          <p:cNvSpPr txBox="1"/>
          <p:nvPr/>
        </p:nvSpPr>
        <p:spPr>
          <a:xfrm>
            <a:off x="548640" y="1280160"/>
            <a:ext cx="4504127" cy="47548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EKS cluster oilgas-cluster, 4 x t3.small nodes in the private subnet</a:t>
            </a:r>
            <a:endParaRPr lang="en-US" sz="1600" dirty="0"/>
          </a:p>
          <a:p>
            <a:pPr marL="342900" indent="-342900">
              <a:spcAft>
                <a:spcPts val="1400"/>
              </a:spcAft>
              <a:buSzPct val="100000"/>
              <a:buChar char="•"/>
            </a:pPr>
            <a:r>
              <a:rPr lang="en-US" sz="1600" dirty="0">
                <a:solidFill>
                  <a:schemeClr val="tx1"/>
                </a:solidFill>
              </a:rPr>
              <a:t>AWS Load Balancer Controller builds the ALB and the internal NLB</a:t>
            </a:r>
            <a:endParaRPr lang="en-US" sz="1600" dirty="0"/>
          </a:p>
          <a:p>
            <a:pPr marL="342900" indent="-342900">
              <a:spcAft>
                <a:spcPts val="1400"/>
              </a:spcAft>
              <a:buSzPct val="100000"/>
              <a:buChar char="•"/>
            </a:pPr>
            <a:r>
              <a:rPr lang="en-US" sz="1600" dirty="0">
                <a:solidFill>
                  <a:schemeClr val="tx1"/>
                </a:solidFill>
              </a:rPr>
              <a:t>metrics-server feeds the HPA: api and dashboard scale 2 to 5 pods at 70% CPU</a:t>
            </a:r>
            <a:endParaRPr lang="en-US" sz="1600" dirty="0"/>
          </a:p>
          <a:p>
            <a:pPr marL="342900" indent="-342900">
              <a:spcAft>
                <a:spcPts val="1400"/>
              </a:spcAft>
              <a:buSzPct val="100000"/>
              <a:buChar char="•"/>
            </a:pPr>
            <a:r>
              <a:rPr lang="en-US" sz="1600" dirty="0">
                <a:solidFill>
                  <a:schemeClr val="tx1"/>
                </a:solidFill>
              </a:rPr>
              <a:t>Pods pull images from Docker Hub through the NAT gateway</a:t>
            </a:r>
            <a:endParaRPr lang="en-US" sz="1600" dirty="0"/>
          </a:p>
          <a:p>
            <a:pPr marL="342900" indent="-342900">
              <a:spcAft>
                <a:spcPts val="1400"/>
              </a:spcAft>
              <a:buSzPct val="100000"/>
              <a:buChar char="•"/>
            </a:pPr>
            <a:r>
              <a:rPr lang="en-US" sz="1600" dirty="0">
                <a:solidFill>
                  <a:schemeClr val="tx1"/>
                </a:solidFill>
              </a:rPr>
              <a:t>Controller uses its own IAM role (IRSA); app pods need none</a:t>
            </a:r>
            <a:endParaRPr lang="en-US" sz="1600" dirty="0"/>
          </a:p>
        </p:txBody>
      </p:sp>
      <p:sp>
        <p:nvSpPr>
          <p:cNvPr id="6" name="Placeholder kubectl-get-hpa.png"/>
          <p:cNvSpPr/>
          <p:nvPr/>
        </p:nvSpPr>
        <p:spPr>
          <a:xfrm>
            <a:off x="6400800" y="3794760"/>
            <a:ext cx="5212080" cy="2286000"/>
          </a:xfrm>
          <a:prstGeom prst="roundRect">
            <a:avLst>
              <a:gd name="adj" fmla="val 3200"/>
            </a:avLst>
          </a:prstGeom>
          <a:solidFill>
            <a:schemeClr val="bg2"/>
          </a:solidFill>
          <a:ln w="19050">
            <a:solidFill>
              <a:schemeClr val="accent1"/>
            </a:solidFill>
            <a:prstDash val="dash"/>
          </a:ln>
        </p:spPr>
        <p:txBody>
          <a:bodyPr/>
          <a:lstStyle/>
          <a:p>
            <a:endParaRPr/>
          </a:p>
        </p:txBody>
      </p:sp>
      <p:sp>
        <p:nvSpPr>
          <p:cNvPr id="7" name="Text 5"/>
          <p:cNvSpPr txBox="1"/>
          <p:nvPr/>
        </p:nvSpPr>
        <p:spPr>
          <a:xfrm>
            <a:off x="6400800" y="3794760"/>
            <a:ext cx="5212080" cy="2286000"/>
          </a:xfrm>
          <a:prstGeom prst="rect">
            <a:avLst/>
          </a:prstGeom>
          <a:noFill/>
          <a:ln/>
        </p:spPr>
        <p:txBody>
          <a:bodyPr wrap="square" rtlCol="0" anchor="ctr"/>
          <a:lstStyle/>
          <a:p>
            <a:pPr marL="0" indent="0" algn="ctr">
              <a:buNone/>
            </a:pPr>
            <a:r>
              <a:rPr lang="en-US" sz="1300" b="1" dirty="0">
                <a:solidFill>
                  <a:schemeClr val="tx2"/>
                </a:solidFill>
              </a:rPr>
              <a:t>Screenshot</a:t>
            </a:r>
            <a:endParaRPr lang="en-US" sz="1300" dirty="0"/>
          </a:p>
          <a:p>
            <a:pPr marL="0" indent="0" algn="ctr">
              <a:buNone/>
            </a:pPr>
            <a:r>
              <a:rPr lang="en-US" sz="1200" dirty="0">
                <a:solidFill>
                  <a:schemeClr val="accent5"/>
                </a:solidFill>
              </a:rPr>
              <a:t>kubectl-get-hpa.png</a:t>
            </a:r>
            <a:endParaRPr lang="en-US" sz="13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6</a:t>
            </a:fld>
            <a:endParaRPr lang="en-US"/>
          </a:p>
        </p:txBody>
      </p:sp>
      <p:pic>
        <p:nvPicPr>
          <p:cNvPr id="13" name="Picture 12">
            <a:extLst>
              <a:ext uri="{FF2B5EF4-FFF2-40B4-BE49-F238E27FC236}">
                <a16:creationId xmlns:a16="http://schemas.microsoft.com/office/drawing/2014/main" id="{16FE7E00-F658-E2C4-22F1-2D9F0FBBA907}"/>
              </a:ext>
            </a:extLst>
          </p:cNvPr>
          <p:cNvPicPr>
            <a:picLocks noChangeAspect="1"/>
          </p:cNvPicPr>
          <p:nvPr/>
        </p:nvPicPr>
        <p:blipFill>
          <a:blip r:embed="rId3"/>
          <a:stretch>
            <a:fillRect/>
          </a:stretch>
        </p:blipFill>
        <p:spPr>
          <a:xfrm>
            <a:off x="5251613" y="320040"/>
            <a:ext cx="6940387" cy="36861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5" name="Picture 14">
            <a:extLst>
              <a:ext uri="{FF2B5EF4-FFF2-40B4-BE49-F238E27FC236}">
                <a16:creationId xmlns:a16="http://schemas.microsoft.com/office/drawing/2014/main" id="{2EDF7BA6-1FE5-D762-DEDC-38CFA23CECFC}"/>
              </a:ext>
            </a:extLst>
          </p:cNvPr>
          <p:cNvPicPr>
            <a:picLocks noChangeAspect="1"/>
          </p:cNvPicPr>
          <p:nvPr/>
        </p:nvPicPr>
        <p:blipFill>
          <a:blip r:embed="rId4"/>
          <a:stretch>
            <a:fillRect/>
          </a:stretch>
        </p:blipFill>
        <p:spPr>
          <a:xfrm>
            <a:off x="2073897" y="4234815"/>
            <a:ext cx="10029784" cy="255903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Application data flow</a:t>
            </a:r>
            <a:endParaRPr lang="en-US" sz="3000" dirty="0"/>
          </a:p>
        </p:txBody>
      </p:sp>
      <p:sp>
        <p:nvSpPr>
          <p:cNvPr id="3" name="Shape 1"/>
          <p:cNvSpPr/>
          <p:nvPr/>
        </p:nvSpPr>
        <p:spPr>
          <a:xfrm>
            <a:off x="548640" y="1463040"/>
            <a:ext cx="1554480" cy="1005840"/>
          </a:xfrm>
          <a:prstGeom prst="roundRect">
            <a:avLst>
              <a:gd name="adj" fmla="val 7273"/>
            </a:avLst>
          </a:prstGeom>
          <a:solidFill>
            <a:schemeClr val="bg2"/>
          </a:solidFill>
          <a:ln w="28575">
            <a:solidFill>
              <a:schemeClr val="accent3"/>
            </a:solidFill>
            <a:prstDash val="solid"/>
          </a:ln>
        </p:spPr>
        <p:txBody>
          <a:bodyPr/>
          <a:lstStyle/>
          <a:p>
            <a:endParaRPr lang="en-US"/>
          </a:p>
        </p:txBody>
      </p:sp>
      <p:sp>
        <p:nvSpPr>
          <p:cNvPr id="4" name="Text 2"/>
          <p:cNvSpPr txBox="1"/>
          <p:nvPr/>
        </p:nvSpPr>
        <p:spPr>
          <a:xfrm>
            <a:off x="548640" y="1463040"/>
            <a:ext cx="1554480" cy="1005840"/>
          </a:xfrm>
          <a:prstGeom prst="rect">
            <a:avLst/>
          </a:prstGeom>
          <a:noFill/>
          <a:ln/>
        </p:spPr>
        <p:txBody>
          <a:bodyPr wrap="square" rtlCol="0" anchor="ctr"/>
          <a:lstStyle/>
          <a:p>
            <a:pPr marL="0" indent="0" algn="ctr">
              <a:buNone/>
            </a:pPr>
            <a:r>
              <a:rPr lang="en-US" sz="1500" b="1" dirty="0">
                <a:solidFill>
                  <a:schemeClr val="tx2"/>
                </a:solidFill>
              </a:rPr>
              <a:t>Sensor VM</a:t>
            </a:r>
            <a:endParaRPr lang="en-US" sz="1500" dirty="0"/>
          </a:p>
          <a:p>
            <a:pPr marL="0" indent="0" algn="ctr">
              <a:buNone/>
            </a:pPr>
            <a:r>
              <a:rPr lang="en-US" sz="1200" dirty="0">
                <a:solidFill>
                  <a:schemeClr val="accent5"/>
                </a:solidFill>
              </a:rPr>
              <a:t>Azure</a:t>
            </a:r>
            <a:endParaRPr lang="en-US" sz="1500" dirty="0"/>
          </a:p>
        </p:txBody>
      </p:sp>
      <p:sp>
        <p:nvSpPr>
          <p:cNvPr id="5" name="Shape 3"/>
          <p:cNvSpPr/>
          <p:nvPr/>
        </p:nvSpPr>
        <p:spPr>
          <a:xfrm>
            <a:off x="2560320" y="1463040"/>
            <a:ext cx="1554480" cy="1005840"/>
          </a:xfrm>
          <a:prstGeom prst="roundRect">
            <a:avLst>
              <a:gd name="adj" fmla="val 7273"/>
            </a:avLst>
          </a:prstGeom>
          <a:solidFill>
            <a:schemeClr val="bg2"/>
          </a:solidFill>
          <a:ln w="28575">
            <a:solidFill>
              <a:schemeClr val="accent5"/>
            </a:solidFill>
            <a:prstDash val="solid"/>
          </a:ln>
        </p:spPr>
        <p:txBody>
          <a:bodyPr/>
          <a:lstStyle/>
          <a:p>
            <a:endParaRPr lang="en-US"/>
          </a:p>
        </p:txBody>
      </p:sp>
      <p:sp>
        <p:nvSpPr>
          <p:cNvPr id="6" name="Text 4"/>
          <p:cNvSpPr txBox="1"/>
          <p:nvPr/>
        </p:nvSpPr>
        <p:spPr>
          <a:xfrm>
            <a:off x="2560320" y="1463040"/>
            <a:ext cx="1554480" cy="1005840"/>
          </a:xfrm>
          <a:prstGeom prst="rect">
            <a:avLst/>
          </a:prstGeom>
          <a:noFill/>
          <a:ln/>
        </p:spPr>
        <p:txBody>
          <a:bodyPr wrap="square" rtlCol="0" anchor="ctr"/>
          <a:lstStyle/>
          <a:p>
            <a:pPr marL="0" indent="0" algn="ctr">
              <a:buNone/>
            </a:pPr>
            <a:r>
              <a:rPr lang="en-US" sz="1500" b="1" dirty="0">
                <a:solidFill>
                  <a:schemeClr val="tx2"/>
                </a:solidFill>
              </a:rPr>
              <a:t>VPN tunnel</a:t>
            </a:r>
            <a:endParaRPr lang="en-US" sz="1500" dirty="0"/>
          </a:p>
          <a:p>
            <a:pPr marL="0" indent="0" algn="ctr">
              <a:buNone/>
            </a:pPr>
            <a:r>
              <a:rPr lang="en-US" sz="1200" dirty="0">
                <a:solidFill>
                  <a:schemeClr val="accent5"/>
                </a:solidFill>
              </a:rPr>
              <a:t>IPsec</a:t>
            </a:r>
            <a:endParaRPr lang="en-US" sz="1500" dirty="0"/>
          </a:p>
        </p:txBody>
      </p:sp>
      <p:sp>
        <p:nvSpPr>
          <p:cNvPr id="7" name="Shape 5"/>
          <p:cNvSpPr/>
          <p:nvPr/>
        </p:nvSpPr>
        <p:spPr>
          <a:xfrm>
            <a:off x="4572000" y="1463040"/>
            <a:ext cx="1554480" cy="1005840"/>
          </a:xfrm>
          <a:prstGeom prst="roundRect">
            <a:avLst>
              <a:gd name="adj" fmla="val 7273"/>
            </a:avLst>
          </a:prstGeom>
          <a:solidFill>
            <a:schemeClr val="bg2"/>
          </a:solidFill>
          <a:ln w="28575">
            <a:solidFill>
              <a:schemeClr val="accent2"/>
            </a:solidFill>
            <a:prstDash val="solid"/>
          </a:ln>
        </p:spPr>
        <p:txBody>
          <a:bodyPr/>
          <a:lstStyle/>
          <a:p>
            <a:endParaRPr lang="en-US"/>
          </a:p>
        </p:txBody>
      </p:sp>
      <p:sp>
        <p:nvSpPr>
          <p:cNvPr id="8" name="Text 6"/>
          <p:cNvSpPr txBox="1"/>
          <p:nvPr/>
        </p:nvSpPr>
        <p:spPr>
          <a:xfrm>
            <a:off x="4572000" y="1463040"/>
            <a:ext cx="1554480" cy="1005840"/>
          </a:xfrm>
          <a:prstGeom prst="rect">
            <a:avLst/>
          </a:prstGeom>
          <a:noFill/>
          <a:ln/>
        </p:spPr>
        <p:txBody>
          <a:bodyPr wrap="square" rtlCol="0" anchor="ctr"/>
          <a:lstStyle/>
          <a:p>
            <a:pPr marL="0" indent="0" algn="ctr">
              <a:buNone/>
            </a:pPr>
            <a:r>
              <a:rPr lang="en-US" sz="1500" b="1" dirty="0">
                <a:solidFill>
                  <a:schemeClr val="tx2"/>
                </a:solidFill>
              </a:rPr>
              <a:t>Internal NLB</a:t>
            </a:r>
            <a:endParaRPr lang="en-US" sz="1500" dirty="0"/>
          </a:p>
          <a:p>
            <a:pPr marL="0" indent="0" algn="ctr">
              <a:buNone/>
            </a:pPr>
            <a:r>
              <a:rPr lang="en-US" sz="1200" dirty="0">
                <a:solidFill>
                  <a:schemeClr val="accent5"/>
                </a:solidFill>
              </a:rPr>
              <a:t>TCP 6000</a:t>
            </a:r>
            <a:endParaRPr lang="en-US" sz="1500" dirty="0"/>
          </a:p>
        </p:txBody>
      </p:sp>
      <p:sp>
        <p:nvSpPr>
          <p:cNvPr id="9" name="Shape 7"/>
          <p:cNvSpPr/>
          <p:nvPr/>
        </p:nvSpPr>
        <p:spPr>
          <a:xfrm>
            <a:off x="6583680" y="1463040"/>
            <a:ext cx="1828800" cy="1005840"/>
          </a:xfrm>
          <a:prstGeom prst="roundRect">
            <a:avLst>
              <a:gd name="adj" fmla="val 7273"/>
            </a:avLst>
          </a:prstGeom>
          <a:solidFill>
            <a:schemeClr val="bg2"/>
          </a:solidFill>
          <a:ln w="28575">
            <a:solidFill>
              <a:schemeClr val="accent4"/>
            </a:solidFill>
            <a:prstDash val="solid"/>
          </a:ln>
        </p:spPr>
        <p:txBody>
          <a:bodyPr/>
          <a:lstStyle/>
          <a:p>
            <a:endParaRPr lang="en-US"/>
          </a:p>
        </p:txBody>
      </p:sp>
      <p:sp>
        <p:nvSpPr>
          <p:cNvPr id="10" name="Text 8"/>
          <p:cNvSpPr txBox="1"/>
          <p:nvPr/>
        </p:nvSpPr>
        <p:spPr>
          <a:xfrm>
            <a:off x="6583680" y="1463040"/>
            <a:ext cx="1828800" cy="1005840"/>
          </a:xfrm>
          <a:prstGeom prst="rect">
            <a:avLst/>
          </a:prstGeom>
          <a:noFill/>
          <a:ln/>
        </p:spPr>
        <p:txBody>
          <a:bodyPr wrap="square" rtlCol="0" anchor="ctr"/>
          <a:lstStyle/>
          <a:p>
            <a:pPr marL="0" indent="0" algn="ctr">
              <a:buNone/>
            </a:pPr>
            <a:r>
              <a:rPr lang="en-US" sz="1500" b="1" dirty="0">
                <a:solidFill>
                  <a:schemeClr val="tx2"/>
                </a:solidFill>
              </a:rPr>
              <a:t>API</a:t>
            </a:r>
            <a:endParaRPr lang="en-US" sz="1500" dirty="0"/>
          </a:p>
          <a:p>
            <a:pPr marL="0" indent="0" algn="ctr">
              <a:buNone/>
            </a:pPr>
            <a:r>
              <a:rPr lang="en-US" sz="1200" dirty="0">
                <a:solidFill>
                  <a:schemeClr val="accent5"/>
                </a:solidFill>
              </a:rPr>
              <a:t>Flask, the only door to the data</a:t>
            </a:r>
            <a:endParaRPr lang="en-US" sz="1500" dirty="0"/>
          </a:p>
        </p:txBody>
      </p:sp>
      <p:sp>
        <p:nvSpPr>
          <p:cNvPr id="11" name="Shape 9"/>
          <p:cNvSpPr/>
          <p:nvPr/>
        </p:nvSpPr>
        <p:spPr>
          <a:xfrm>
            <a:off x="10058400" y="1463040"/>
            <a:ext cx="1554480" cy="1005840"/>
          </a:xfrm>
          <a:prstGeom prst="roundRect">
            <a:avLst>
              <a:gd name="adj" fmla="val 7273"/>
            </a:avLst>
          </a:prstGeom>
          <a:solidFill>
            <a:schemeClr val="bg2"/>
          </a:solidFill>
          <a:ln w="28575">
            <a:solidFill>
              <a:schemeClr val="accent1"/>
            </a:solidFill>
            <a:prstDash val="solid"/>
          </a:ln>
        </p:spPr>
        <p:txBody>
          <a:bodyPr/>
          <a:lstStyle/>
          <a:p>
            <a:endParaRPr lang="en-US"/>
          </a:p>
        </p:txBody>
      </p:sp>
      <p:sp>
        <p:nvSpPr>
          <p:cNvPr id="12" name="Text 10"/>
          <p:cNvSpPr txBox="1"/>
          <p:nvPr/>
        </p:nvSpPr>
        <p:spPr>
          <a:xfrm>
            <a:off x="10058400" y="1463040"/>
            <a:ext cx="1554480" cy="1005840"/>
          </a:xfrm>
          <a:prstGeom prst="rect">
            <a:avLst/>
          </a:prstGeom>
          <a:noFill/>
          <a:ln/>
        </p:spPr>
        <p:txBody>
          <a:bodyPr wrap="square" rtlCol="0" anchor="ctr"/>
          <a:lstStyle/>
          <a:p>
            <a:pPr marL="0" indent="0" algn="ctr">
              <a:buNone/>
            </a:pPr>
            <a:r>
              <a:rPr lang="en-US" sz="1500" b="1" dirty="0">
                <a:solidFill>
                  <a:schemeClr val="tx2"/>
                </a:solidFill>
              </a:rPr>
              <a:t>Dashboard</a:t>
            </a:r>
            <a:endParaRPr lang="en-US" sz="1500" dirty="0"/>
          </a:p>
          <a:p>
            <a:pPr marL="0" indent="0" algn="ctr">
              <a:buNone/>
            </a:pPr>
            <a:r>
              <a:rPr lang="en-US" sz="1200" dirty="0">
                <a:solidFill>
                  <a:schemeClr val="accent5"/>
                </a:solidFill>
              </a:rPr>
              <a:t>browser</a:t>
            </a:r>
            <a:endParaRPr lang="en-US" sz="1500" dirty="0"/>
          </a:p>
        </p:txBody>
      </p:sp>
      <p:sp>
        <p:nvSpPr>
          <p:cNvPr id="13" name="Shape 11"/>
          <p:cNvSpPr/>
          <p:nvPr/>
        </p:nvSpPr>
        <p:spPr>
          <a:xfrm>
            <a:off x="6583680" y="3657600"/>
            <a:ext cx="1828800" cy="1005840"/>
          </a:xfrm>
          <a:prstGeom prst="roundRect">
            <a:avLst>
              <a:gd name="adj" fmla="val 7273"/>
            </a:avLst>
          </a:prstGeom>
          <a:solidFill>
            <a:schemeClr val="bg2"/>
          </a:solidFill>
          <a:ln w="28575">
            <a:solidFill>
              <a:schemeClr val="accent2"/>
            </a:solidFill>
            <a:prstDash val="solid"/>
          </a:ln>
        </p:spPr>
        <p:txBody>
          <a:bodyPr/>
          <a:lstStyle/>
          <a:p>
            <a:endParaRPr lang="en-US"/>
          </a:p>
        </p:txBody>
      </p:sp>
      <p:sp>
        <p:nvSpPr>
          <p:cNvPr id="14" name="Text 12"/>
          <p:cNvSpPr txBox="1"/>
          <p:nvPr/>
        </p:nvSpPr>
        <p:spPr>
          <a:xfrm>
            <a:off x="6583680" y="3657600"/>
            <a:ext cx="1828800" cy="1005840"/>
          </a:xfrm>
          <a:prstGeom prst="rect">
            <a:avLst/>
          </a:prstGeom>
          <a:noFill/>
          <a:ln/>
        </p:spPr>
        <p:txBody>
          <a:bodyPr wrap="square" rtlCol="0" anchor="ctr"/>
          <a:lstStyle/>
          <a:p>
            <a:pPr marL="0" indent="0" algn="ctr">
              <a:buNone/>
            </a:pPr>
            <a:r>
              <a:rPr lang="en-US" sz="1500" b="1" dirty="0">
                <a:solidFill>
                  <a:schemeClr val="tx2"/>
                </a:solidFill>
              </a:rPr>
              <a:t>Postgres</a:t>
            </a:r>
            <a:endParaRPr lang="en-US" sz="1500" dirty="0"/>
          </a:p>
          <a:p>
            <a:pPr marL="0" indent="0" algn="ctr">
              <a:buNone/>
            </a:pPr>
            <a:r>
              <a:rPr lang="en-US" sz="1200" dirty="0">
                <a:solidFill>
                  <a:schemeClr val="accent5"/>
                </a:solidFill>
              </a:rPr>
              <a:t>readings table</a:t>
            </a:r>
            <a:endParaRPr lang="en-US" sz="1500" dirty="0"/>
          </a:p>
        </p:txBody>
      </p:sp>
      <p:sp>
        <p:nvSpPr>
          <p:cNvPr id="15" name="Shape 13"/>
          <p:cNvSpPr/>
          <p:nvPr/>
        </p:nvSpPr>
        <p:spPr>
          <a:xfrm>
            <a:off x="2148840" y="1691640"/>
            <a:ext cx="365760" cy="237744"/>
          </a:xfrm>
          <a:prstGeom prst="rightArrow">
            <a:avLst/>
          </a:prstGeom>
          <a:solidFill>
            <a:schemeClr val="accent2"/>
          </a:solidFill>
          <a:ln w="12700">
            <a:solidFill>
              <a:schemeClr val="accent2"/>
            </a:solidFill>
            <a:prstDash val="solid"/>
          </a:ln>
        </p:spPr>
        <p:txBody>
          <a:bodyPr/>
          <a:lstStyle/>
          <a:p>
            <a:endParaRPr lang="en-US"/>
          </a:p>
        </p:txBody>
      </p:sp>
      <p:sp>
        <p:nvSpPr>
          <p:cNvPr id="16" name="Shape 14"/>
          <p:cNvSpPr/>
          <p:nvPr/>
        </p:nvSpPr>
        <p:spPr>
          <a:xfrm>
            <a:off x="2148840" y="2057400"/>
            <a:ext cx="365760" cy="237744"/>
          </a:xfrm>
          <a:prstGeom prst="leftArrow">
            <a:avLst/>
          </a:prstGeom>
          <a:solidFill>
            <a:schemeClr val="accent2"/>
          </a:solidFill>
          <a:ln w="12700">
            <a:solidFill>
              <a:schemeClr val="accent2"/>
            </a:solidFill>
            <a:prstDash val="solid"/>
          </a:ln>
        </p:spPr>
        <p:txBody>
          <a:bodyPr/>
          <a:lstStyle/>
          <a:p>
            <a:endParaRPr lang="en-US"/>
          </a:p>
        </p:txBody>
      </p:sp>
      <p:sp>
        <p:nvSpPr>
          <p:cNvPr id="17" name="Shape 15"/>
          <p:cNvSpPr/>
          <p:nvPr/>
        </p:nvSpPr>
        <p:spPr>
          <a:xfrm>
            <a:off x="4160520" y="1691640"/>
            <a:ext cx="365760" cy="237744"/>
          </a:xfrm>
          <a:prstGeom prst="rightArrow">
            <a:avLst/>
          </a:prstGeom>
          <a:solidFill>
            <a:schemeClr val="accent2"/>
          </a:solidFill>
          <a:ln w="12700">
            <a:solidFill>
              <a:schemeClr val="accent2"/>
            </a:solidFill>
            <a:prstDash val="solid"/>
          </a:ln>
        </p:spPr>
        <p:txBody>
          <a:bodyPr/>
          <a:lstStyle/>
          <a:p>
            <a:endParaRPr lang="en-US"/>
          </a:p>
        </p:txBody>
      </p:sp>
      <p:sp>
        <p:nvSpPr>
          <p:cNvPr id="18" name="Shape 16"/>
          <p:cNvSpPr/>
          <p:nvPr/>
        </p:nvSpPr>
        <p:spPr>
          <a:xfrm>
            <a:off x="4160520" y="2057400"/>
            <a:ext cx="365760" cy="237744"/>
          </a:xfrm>
          <a:prstGeom prst="leftArrow">
            <a:avLst/>
          </a:prstGeom>
          <a:solidFill>
            <a:schemeClr val="accent2"/>
          </a:solidFill>
          <a:ln w="12700">
            <a:solidFill>
              <a:schemeClr val="accent2"/>
            </a:solidFill>
            <a:prstDash val="solid"/>
          </a:ln>
        </p:spPr>
        <p:txBody>
          <a:bodyPr/>
          <a:lstStyle/>
          <a:p>
            <a:endParaRPr lang="en-US"/>
          </a:p>
        </p:txBody>
      </p:sp>
      <p:sp>
        <p:nvSpPr>
          <p:cNvPr id="19" name="Shape 17"/>
          <p:cNvSpPr/>
          <p:nvPr/>
        </p:nvSpPr>
        <p:spPr>
          <a:xfrm>
            <a:off x="6172200" y="1691640"/>
            <a:ext cx="365760" cy="237744"/>
          </a:xfrm>
          <a:prstGeom prst="rightArrow">
            <a:avLst/>
          </a:prstGeom>
          <a:solidFill>
            <a:schemeClr val="accent2"/>
          </a:solidFill>
          <a:ln w="12700">
            <a:solidFill>
              <a:schemeClr val="accent2"/>
            </a:solidFill>
            <a:prstDash val="solid"/>
          </a:ln>
        </p:spPr>
        <p:txBody>
          <a:bodyPr/>
          <a:lstStyle/>
          <a:p>
            <a:endParaRPr lang="en-US"/>
          </a:p>
        </p:txBody>
      </p:sp>
      <p:sp>
        <p:nvSpPr>
          <p:cNvPr id="20" name="Shape 18"/>
          <p:cNvSpPr/>
          <p:nvPr/>
        </p:nvSpPr>
        <p:spPr>
          <a:xfrm>
            <a:off x="6172200" y="2057400"/>
            <a:ext cx="365760" cy="237744"/>
          </a:xfrm>
          <a:prstGeom prst="leftArrow">
            <a:avLst/>
          </a:prstGeom>
          <a:solidFill>
            <a:schemeClr val="accent2"/>
          </a:solidFill>
          <a:ln w="12700">
            <a:solidFill>
              <a:schemeClr val="accent2"/>
            </a:solidFill>
            <a:prstDash val="solid"/>
          </a:ln>
        </p:spPr>
        <p:txBody>
          <a:bodyPr/>
          <a:lstStyle/>
          <a:p>
            <a:endParaRPr lang="en-US"/>
          </a:p>
        </p:txBody>
      </p:sp>
      <p:sp>
        <p:nvSpPr>
          <p:cNvPr id="21" name="Text 19"/>
          <p:cNvSpPr txBox="1"/>
          <p:nvPr/>
        </p:nvSpPr>
        <p:spPr>
          <a:xfrm>
            <a:off x="548640" y="1143000"/>
            <a:ext cx="5029200" cy="274320"/>
          </a:xfrm>
          <a:prstGeom prst="rect">
            <a:avLst/>
          </a:prstGeom>
          <a:noFill/>
          <a:ln/>
        </p:spPr>
        <p:txBody>
          <a:bodyPr wrap="square" lIns="0" tIns="0" rIns="0" bIns="0" rtlCol="0" anchor="ctr"/>
          <a:lstStyle/>
          <a:p>
            <a:pPr marL="0" indent="0" algn="l">
              <a:buNone/>
            </a:pPr>
            <a:r>
              <a:rPr lang="en-US" sz="1200" b="1" dirty="0">
                <a:solidFill>
                  <a:srgbClr val="B45309"/>
                </a:solidFill>
              </a:rPr>
              <a:t>W1  Sensor posts a reading (every 5 s)</a:t>
            </a:r>
            <a:endParaRPr lang="en-US" sz="1200" dirty="0"/>
          </a:p>
        </p:txBody>
      </p:sp>
      <p:sp>
        <p:nvSpPr>
          <p:cNvPr id="22" name="Text 20"/>
          <p:cNvSpPr txBox="1"/>
          <p:nvPr/>
        </p:nvSpPr>
        <p:spPr>
          <a:xfrm>
            <a:off x="548640" y="2542032"/>
            <a:ext cx="5303520" cy="274320"/>
          </a:xfrm>
          <a:prstGeom prst="rect">
            <a:avLst/>
          </a:prstGeom>
          <a:noFill/>
          <a:ln/>
        </p:spPr>
        <p:txBody>
          <a:bodyPr wrap="square" lIns="0" tIns="0" rIns="0" bIns="0" rtlCol="0" anchor="ctr"/>
          <a:lstStyle/>
          <a:p>
            <a:pPr marL="0" indent="0" algn="l">
              <a:buNone/>
            </a:pPr>
            <a:r>
              <a:rPr lang="en-US" sz="1200" b="1" dirty="0">
                <a:solidFill>
                  <a:srgbClr val="B45309"/>
                </a:solidFill>
              </a:rPr>
              <a:t>W4  API replies "received" along the same path</a:t>
            </a:r>
            <a:endParaRPr lang="en-US" sz="1200" dirty="0"/>
          </a:p>
        </p:txBody>
      </p:sp>
      <p:sp>
        <p:nvSpPr>
          <p:cNvPr id="23" name="Shape 21"/>
          <p:cNvSpPr/>
          <p:nvPr/>
        </p:nvSpPr>
        <p:spPr>
          <a:xfrm>
            <a:off x="8503920" y="1664208"/>
            <a:ext cx="1463040" cy="256032"/>
          </a:xfrm>
          <a:prstGeom prst="leftArrow">
            <a:avLst/>
          </a:prstGeom>
          <a:solidFill>
            <a:schemeClr val="accent1"/>
          </a:solidFill>
          <a:ln w="12700">
            <a:solidFill>
              <a:schemeClr val="accent1"/>
            </a:solidFill>
            <a:prstDash val="solid"/>
          </a:ln>
        </p:spPr>
        <p:txBody>
          <a:bodyPr/>
          <a:lstStyle/>
          <a:p>
            <a:endParaRPr lang="en-US"/>
          </a:p>
        </p:txBody>
      </p:sp>
      <p:sp>
        <p:nvSpPr>
          <p:cNvPr id="24" name="Shape 22"/>
          <p:cNvSpPr/>
          <p:nvPr/>
        </p:nvSpPr>
        <p:spPr>
          <a:xfrm>
            <a:off x="8503920" y="2103120"/>
            <a:ext cx="1463040" cy="256032"/>
          </a:xfrm>
          <a:prstGeom prst="rightArrow">
            <a:avLst/>
          </a:prstGeom>
          <a:solidFill>
            <a:schemeClr val="accent1"/>
          </a:solidFill>
          <a:ln w="12700">
            <a:solidFill>
              <a:schemeClr val="accent1"/>
            </a:solidFill>
            <a:prstDash val="solid"/>
          </a:ln>
        </p:spPr>
        <p:txBody>
          <a:bodyPr/>
          <a:lstStyle/>
          <a:p>
            <a:endParaRPr lang="en-US"/>
          </a:p>
        </p:txBody>
      </p:sp>
      <p:sp>
        <p:nvSpPr>
          <p:cNvPr id="25" name="Text 23"/>
          <p:cNvSpPr txBox="1"/>
          <p:nvPr/>
        </p:nvSpPr>
        <p:spPr>
          <a:xfrm>
            <a:off x="8412480" y="1325880"/>
            <a:ext cx="1645920" cy="274320"/>
          </a:xfrm>
          <a:prstGeom prst="rect">
            <a:avLst/>
          </a:prstGeom>
          <a:noFill/>
          <a:ln/>
        </p:spPr>
        <p:txBody>
          <a:bodyPr wrap="square" lIns="0" tIns="0" rIns="0" bIns="0" rtlCol="0" anchor="ctr"/>
          <a:lstStyle/>
          <a:p>
            <a:pPr marL="0" indent="0" algn="ctr">
              <a:buNone/>
            </a:pPr>
            <a:r>
              <a:rPr lang="en-US" sz="1200" b="1" dirty="0">
                <a:solidFill>
                  <a:schemeClr val="accent3"/>
                </a:solidFill>
              </a:rPr>
              <a:t>R1  Dashboard asks</a:t>
            </a:r>
            <a:endParaRPr lang="en-US" sz="1200" dirty="0"/>
          </a:p>
        </p:txBody>
      </p:sp>
      <p:sp>
        <p:nvSpPr>
          <p:cNvPr id="26" name="Text 24"/>
          <p:cNvSpPr txBox="1"/>
          <p:nvPr/>
        </p:nvSpPr>
        <p:spPr>
          <a:xfrm>
            <a:off x="8412480" y="2395728"/>
            <a:ext cx="1645920" cy="274320"/>
          </a:xfrm>
          <a:prstGeom prst="rect">
            <a:avLst/>
          </a:prstGeom>
          <a:noFill/>
          <a:ln/>
        </p:spPr>
        <p:txBody>
          <a:bodyPr wrap="square" lIns="0" tIns="0" rIns="0" bIns="0" rtlCol="0" anchor="ctr"/>
          <a:lstStyle/>
          <a:p>
            <a:pPr marL="0" indent="0" algn="ctr">
              <a:buNone/>
            </a:pPr>
            <a:r>
              <a:rPr lang="en-US" sz="1200" b="1" dirty="0">
                <a:solidFill>
                  <a:schemeClr val="accent3"/>
                </a:solidFill>
              </a:rPr>
              <a:t>R4  API returns data</a:t>
            </a:r>
            <a:endParaRPr lang="en-US" sz="1200" dirty="0"/>
          </a:p>
        </p:txBody>
      </p:sp>
      <p:sp>
        <p:nvSpPr>
          <p:cNvPr id="27" name="Shape 25"/>
          <p:cNvSpPr/>
          <p:nvPr/>
        </p:nvSpPr>
        <p:spPr>
          <a:xfrm>
            <a:off x="6720840" y="2606040"/>
            <a:ext cx="256032" cy="914400"/>
          </a:xfrm>
          <a:prstGeom prst="downArrow">
            <a:avLst/>
          </a:prstGeom>
          <a:solidFill>
            <a:schemeClr val="accent2"/>
          </a:solidFill>
          <a:ln w="12700">
            <a:solidFill>
              <a:schemeClr val="accent2"/>
            </a:solidFill>
            <a:prstDash val="solid"/>
          </a:ln>
        </p:spPr>
        <p:txBody>
          <a:bodyPr/>
          <a:lstStyle/>
          <a:p>
            <a:endParaRPr lang="en-US"/>
          </a:p>
        </p:txBody>
      </p:sp>
      <p:sp>
        <p:nvSpPr>
          <p:cNvPr id="28" name="Shape 26"/>
          <p:cNvSpPr/>
          <p:nvPr/>
        </p:nvSpPr>
        <p:spPr>
          <a:xfrm>
            <a:off x="7086600" y="2606040"/>
            <a:ext cx="256032" cy="914400"/>
          </a:xfrm>
          <a:prstGeom prst="upArrow">
            <a:avLst/>
          </a:prstGeom>
          <a:solidFill>
            <a:schemeClr val="accent2"/>
          </a:solidFill>
          <a:ln w="12700">
            <a:solidFill>
              <a:schemeClr val="accent2"/>
            </a:solidFill>
            <a:prstDash val="solid"/>
          </a:ln>
        </p:spPr>
        <p:txBody>
          <a:bodyPr/>
          <a:lstStyle/>
          <a:p>
            <a:endParaRPr lang="en-US"/>
          </a:p>
        </p:txBody>
      </p:sp>
      <p:sp>
        <p:nvSpPr>
          <p:cNvPr id="29" name="Shape 27"/>
          <p:cNvSpPr/>
          <p:nvPr/>
        </p:nvSpPr>
        <p:spPr>
          <a:xfrm>
            <a:off x="7680960" y="2606040"/>
            <a:ext cx="256032" cy="914400"/>
          </a:xfrm>
          <a:prstGeom prst="downArrow">
            <a:avLst/>
          </a:prstGeom>
          <a:solidFill>
            <a:schemeClr val="accent1"/>
          </a:solidFill>
          <a:ln w="12700">
            <a:solidFill>
              <a:schemeClr val="accent1"/>
            </a:solidFill>
            <a:prstDash val="solid"/>
          </a:ln>
        </p:spPr>
        <p:txBody>
          <a:bodyPr/>
          <a:lstStyle/>
          <a:p>
            <a:endParaRPr lang="en-US"/>
          </a:p>
        </p:txBody>
      </p:sp>
      <p:sp>
        <p:nvSpPr>
          <p:cNvPr id="30" name="Shape 28"/>
          <p:cNvSpPr/>
          <p:nvPr/>
        </p:nvSpPr>
        <p:spPr>
          <a:xfrm>
            <a:off x="8046720" y="2606040"/>
            <a:ext cx="256032" cy="914400"/>
          </a:xfrm>
          <a:prstGeom prst="upArrow">
            <a:avLst/>
          </a:prstGeom>
          <a:solidFill>
            <a:schemeClr val="accent1"/>
          </a:solidFill>
          <a:ln w="12700">
            <a:solidFill>
              <a:schemeClr val="accent1"/>
            </a:solidFill>
            <a:prstDash val="solid"/>
          </a:ln>
        </p:spPr>
        <p:txBody>
          <a:bodyPr/>
          <a:lstStyle/>
          <a:p>
            <a:endParaRPr lang="en-US"/>
          </a:p>
        </p:txBody>
      </p:sp>
      <p:sp>
        <p:nvSpPr>
          <p:cNvPr id="31" name="Text 29"/>
          <p:cNvSpPr txBox="1"/>
          <p:nvPr/>
        </p:nvSpPr>
        <p:spPr>
          <a:xfrm>
            <a:off x="4434840" y="2788920"/>
            <a:ext cx="2194560" cy="274320"/>
          </a:xfrm>
          <a:prstGeom prst="rect">
            <a:avLst/>
          </a:prstGeom>
          <a:noFill/>
          <a:ln/>
        </p:spPr>
        <p:txBody>
          <a:bodyPr wrap="square" lIns="0" tIns="0" rIns="0" bIns="0" rtlCol="0" anchor="ctr"/>
          <a:lstStyle/>
          <a:p>
            <a:pPr marL="0" indent="0" algn="r">
              <a:buNone/>
            </a:pPr>
            <a:r>
              <a:rPr lang="en-US" sz="1200" b="1" dirty="0">
                <a:solidFill>
                  <a:srgbClr val="B45309"/>
                </a:solidFill>
              </a:rPr>
              <a:t>W2  API saves the reading</a:t>
            </a:r>
            <a:endParaRPr lang="en-US" sz="1200" dirty="0"/>
          </a:p>
        </p:txBody>
      </p:sp>
      <p:sp>
        <p:nvSpPr>
          <p:cNvPr id="32" name="Text 30"/>
          <p:cNvSpPr txBox="1"/>
          <p:nvPr/>
        </p:nvSpPr>
        <p:spPr>
          <a:xfrm>
            <a:off x="4434840" y="3108960"/>
            <a:ext cx="2194560" cy="274320"/>
          </a:xfrm>
          <a:prstGeom prst="rect">
            <a:avLst/>
          </a:prstGeom>
          <a:noFill/>
          <a:ln/>
        </p:spPr>
        <p:txBody>
          <a:bodyPr wrap="square" lIns="0" tIns="0" rIns="0" bIns="0" rtlCol="0" anchor="ctr"/>
          <a:lstStyle/>
          <a:p>
            <a:pPr marL="0" indent="0" algn="r">
              <a:buNone/>
            </a:pPr>
            <a:r>
              <a:rPr lang="en-US" sz="1200" b="1" dirty="0">
                <a:solidFill>
                  <a:srgbClr val="B45309"/>
                </a:solidFill>
              </a:rPr>
              <a:t>W3  Postgres confirms</a:t>
            </a:r>
            <a:endParaRPr lang="en-US" sz="1200" dirty="0"/>
          </a:p>
        </p:txBody>
      </p:sp>
      <p:sp>
        <p:nvSpPr>
          <p:cNvPr id="33" name="Text 31"/>
          <p:cNvSpPr txBox="1"/>
          <p:nvPr/>
        </p:nvSpPr>
        <p:spPr>
          <a:xfrm>
            <a:off x="8412480" y="2788920"/>
            <a:ext cx="2103120" cy="274320"/>
          </a:xfrm>
          <a:prstGeom prst="rect">
            <a:avLst/>
          </a:prstGeom>
          <a:noFill/>
          <a:ln/>
        </p:spPr>
        <p:txBody>
          <a:bodyPr wrap="square" lIns="0" tIns="0" rIns="0" bIns="0" rtlCol="0" anchor="ctr"/>
          <a:lstStyle/>
          <a:p>
            <a:pPr marL="0" indent="0" algn="l">
              <a:buNone/>
            </a:pPr>
            <a:r>
              <a:rPr lang="en-US" sz="1200" b="1" dirty="0">
                <a:solidFill>
                  <a:schemeClr val="accent3"/>
                </a:solidFill>
              </a:rPr>
              <a:t>R2  API asks Postgres</a:t>
            </a:r>
            <a:endParaRPr lang="en-US" sz="1200" dirty="0"/>
          </a:p>
        </p:txBody>
      </p:sp>
      <p:sp>
        <p:nvSpPr>
          <p:cNvPr id="34" name="Text 32"/>
          <p:cNvSpPr txBox="1"/>
          <p:nvPr/>
        </p:nvSpPr>
        <p:spPr>
          <a:xfrm>
            <a:off x="8412480" y="3108960"/>
            <a:ext cx="2103120" cy="274320"/>
          </a:xfrm>
          <a:prstGeom prst="rect">
            <a:avLst/>
          </a:prstGeom>
          <a:noFill/>
          <a:ln/>
        </p:spPr>
        <p:txBody>
          <a:bodyPr wrap="square" lIns="0" tIns="0" rIns="0" bIns="0" rtlCol="0" anchor="ctr"/>
          <a:lstStyle/>
          <a:p>
            <a:pPr marL="0" indent="0" algn="l">
              <a:buNone/>
            </a:pPr>
            <a:r>
              <a:rPr lang="en-US" sz="1200" b="1" dirty="0">
                <a:solidFill>
                  <a:schemeClr val="accent3"/>
                </a:solidFill>
              </a:rPr>
              <a:t>R3  Postgres replies</a:t>
            </a:r>
            <a:endParaRPr lang="en-US" sz="1200" dirty="0"/>
          </a:p>
        </p:txBody>
      </p:sp>
      <p:sp>
        <p:nvSpPr>
          <p:cNvPr id="35" name="Text 33"/>
          <p:cNvSpPr txBox="1"/>
          <p:nvPr/>
        </p:nvSpPr>
        <p:spPr>
          <a:xfrm>
            <a:off x="548640" y="3017520"/>
            <a:ext cx="3749040" cy="283464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chemeClr val="tx1"/>
                </a:solidFill>
              </a:rPr>
              <a:t>Write (W1 to W4): the sensor posts, the API saves the reading in Postgres, Postgres confirms, the API replies "received"</a:t>
            </a:r>
            <a:endParaRPr lang="en-US" sz="1400" dirty="0"/>
          </a:p>
          <a:p>
            <a:pPr marL="342900" indent="-342900">
              <a:spcAft>
                <a:spcPts val="1400"/>
              </a:spcAft>
              <a:buSzPct val="100000"/>
              <a:buChar char="•"/>
            </a:pPr>
            <a:r>
              <a:rPr lang="en-US" sz="1400" dirty="0">
                <a:solidFill>
                  <a:schemeClr val="tx1"/>
                </a:solidFill>
              </a:rPr>
              <a:t>Read (R1 to R4): the dashboard asks the API, the API asks Postgres, Postgres replies, the API returns the readings</a:t>
            </a:r>
            <a:endParaRPr lang="en-US" sz="1400" dirty="0"/>
          </a:p>
          <a:p>
            <a:pPr marL="342900" indent="-342900">
              <a:spcAft>
                <a:spcPts val="1400"/>
              </a:spcAft>
              <a:buSzPct val="100000"/>
              <a:buChar char="•"/>
            </a:pPr>
            <a:r>
              <a:rPr lang="en-US" sz="1400" dirty="0">
                <a:solidFill>
                  <a:schemeClr val="tx1"/>
                </a:solidFill>
              </a:rPr>
              <a:t>The dashboard never connects to the database</a:t>
            </a:r>
            <a:endParaRPr lang="en-US" sz="1400" dirty="0"/>
          </a:p>
        </p:txBody>
      </p:sp>
      <p:sp>
        <p:nvSpPr>
          <p:cNvPr id="36" name="Shape 34"/>
          <p:cNvSpPr/>
          <p:nvPr/>
        </p:nvSpPr>
        <p:spPr>
          <a:xfrm>
            <a:off x="548640" y="5943600"/>
            <a:ext cx="182880" cy="182880"/>
          </a:xfrm>
          <a:prstGeom prst="rect">
            <a:avLst/>
          </a:prstGeom>
          <a:solidFill>
            <a:schemeClr val="accent2"/>
          </a:solidFill>
          <a:ln w="12700">
            <a:solidFill>
              <a:schemeClr val="accent2"/>
            </a:solidFill>
            <a:prstDash val="solid"/>
          </a:ln>
        </p:spPr>
        <p:txBody>
          <a:bodyPr/>
          <a:lstStyle/>
          <a:p>
            <a:endParaRPr lang="en-US"/>
          </a:p>
        </p:txBody>
      </p:sp>
      <p:sp>
        <p:nvSpPr>
          <p:cNvPr id="37" name="Text 35"/>
          <p:cNvSpPr txBox="1"/>
          <p:nvPr/>
        </p:nvSpPr>
        <p:spPr>
          <a:xfrm>
            <a:off x="804672" y="5897880"/>
            <a:ext cx="1280160" cy="274320"/>
          </a:xfrm>
          <a:prstGeom prst="rect">
            <a:avLst/>
          </a:prstGeom>
          <a:noFill/>
          <a:ln/>
        </p:spPr>
        <p:txBody>
          <a:bodyPr wrap="square" lIns="0" tIns="0" rIns="0" bIns="0" rtlCol="0" anchor="ctr"/>
          <a:lstStyle/>
          <a:p>
            <a:pPr marL="0" indent="0">
              <a:buNone/>
            </a:pPr>
            <a:r>
              <a:rPr lang="en-US" sz="1200" dirty="0">
                <a:solidFill>
                  <a:schemeClr val="tx1"/>
                </a:solidFill>
              </a:rPr>
              <a:t>Write path</a:t>
            </a:r>
            <a:endParaRPr lang="en-US" sz="1200" dirty="0"/>
          </a:p>
        </p:txBody>
      </p:sp>
      <p:sp>
        <p:nvSpPr>
          <p:cNvPr id="38" name="Shape 36"/>
          <p:cNvSpPr/>
          <p:nvPr/>
        </p:nvSpPr>
        <p:spPr>
          <a:xfrm>
            <a:off x="2103120" y="5943600"/>
            <a:ext cx="182880" cy="182880"/>
          </a:xfrm>
          <a:prstGeom prst="rect">
            <a:avLst/>
          </a:prstGeom>
          <a:solidFill>
            <a:schemeClr val="accent1"/>
          </a:solidFill>
          <a:ln w="12700">
            <a:solidFill>
              <a:schemeClr val="accent1"/>
            </a:solidFill>
            <a:prstDash val="solid"/>
          </a:ln>
        </p:spPr>
        <p:txBody>
          <a:bodyPr/>
          <a:lstStyle/>
          <a:p>
            <a:endParaRPr lang="en-US"/>
          </a:p>
        </p:txBody>
      </p:sp>
      <p:sp>
        <p:nvSpPr>
          <p:cNvPr id="39" name="Text 37"/>
          <p:cNvSpPr txBox="1"/>
          <p:nvPr/>
        </p:nvSpPr>
        <p:spPr>
          <a:xfrm>
            <a:off x="2359152" y="5897880"/>
            <a:ext cx="1280160" cy="274320"/>
          </a:xfrm>
          <a:prstGeom prst="rect">
            <a:avLst/>
          </a:prstGeom>
          <a:noFill/>
          <a:ln/>
        </p:spPr>
        <p:txBody>
          <a:bodyPr wrap="square" lIns="0" tIns="0" rIns="0" bIns="0" rtlCol="0" anchor="ctr"/>
          <a:lstStyle/>
          <a:p>
            <a:pPr marL="0" indent="0">
              <a:buNone/>
            </a:pPr>
            <a:r>
              <a:rPr lang="en-US" sz="1200" dirty="0">
                <a:solidFill>
                  <a:schemeClr val="tx1"/>
                </a:solidFill>
              </a:rPr>
              <a:t>Read path</a:t>
            </a:r>
            <a:endParaRPr lang="en-US" sz="1200" dirty="0"/>
          </a:p>
        </p:txBody>
      </p:sp>
      <p:sp>
        <p:nvSpPr>
          <p:cNvPr id="40" name="Shape 38"/>
          <p:cNvSpPr/>
          <p:nvPr/>
        </p:nvSpPr>
        <p:spPr>
          <a:xfrm>
            <a:off x="8869680" y="3611880"/>
            <a:ext cx="2743200" cy="2560320"/>
          </a:xfrm>
          <a:prstGeom prst="roundRect">
            <a:avLst>
              <a:gd name="adj" fmla="val 2857"/>
            </a:avLst>
          </a:prstGeom>
          <a:solidFill>
            <a:schemeClr val="bg2"/>
          </a:solidFill>
          <a:ln w="19050">
            <a:solidFill>
              <a:schemeClr val="accent2"/>
            </a:solidFill>
            <a:prstDash val="solid"/>
          </a:ln>
        </p:spPr>
        <p:txBody>
          <a:bodyPr/>
          <a:lstStyle/>
          <a:p>
            <a:endParaRPr lang="en-US"/>
          </a:p>
        </p:txBody>
      </p:sp>
      <p:sp>
        <p:nvSpPr>
          <p:cNvPr id="41" name="Text 39"/>
          <p:cNvSpPr txBox="1"/>
          <p:nvPr/>
        </p:nvSpPr>
        <p:spPr>
          <a:xfrm>
            <a:off x="9098280" y="3749040"/>
            <a:ext cx="2286000" cy="411480"/>
          </a:xfrm>
          <a:prstGeom prst="rect">
            <a:avLst/>
          </a:prstGeom>
          <a:noFill/>
          <a:ln/>
        </p:spPr>
        <p:txBody>
          <a:bodyPr wrap="square" lIns="0" tIns="0" rIns="0" bIns="0" rtlCol="0" anchor="ctr"/>
          <a:lstStyle/>
          <a:p>
            <a:pPr marL="0" indent="0">
              <a:buNone/>
            </a:pPr>
            <a:r>
              <a:rPr lang="en-US" sz="1900" b="1" dirty="0">
                <a:solidFill>
                  <a:schemeClr val="tx2"/>
                </a:solidFill>
              </a:rPr>
              <a:t>Example reading</a:t>
            </a:r>
            <a:endParaRPr lang="en-US" sz="1900" dirty="0"/>
          </a:p>
        </p:txBody>
      </p:sp>
      <p:sp>
        <p:nvSpPr>
          <p:cNvPr id="42" name="Text 40"/>
          <p:cNvSpPr txBox="1"/>
          <p:nvPr/>
        </p:nvSpPr>
        <p:spPr>
          <a:xfrm>
            <a:off x="9098280" y="4251960"/>
            <a:ext cx="2286000" cy="178308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PRESS-01, 1612.5 psi, saved with a timestamp in the readings table</a:t>
            </a:r>
            <a:endParaRPr lang="en-US" sz="1600" dirty="0"/>
          </a:p>
        </p:txBody>
      </p:sp>
      <p:sp>
        <p:nvSpPr>
          <p:cNvPr id="43"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2609339" cy="731520"/>
          </a:xfrm>
          <a:prstGeom prst="rect">
            <a:avLst/>
          </a:prstGeom>
          <a:noFill/>
          <a:ln/>
        </p:spPr>
        <p:txBody>
          <a:bodyPr wrap="square" lIns="0" tIns="0" rIns="0" bIns="0" rtlCol="0" anchor="ctr"/>
          <a:lstStyle/>
          <a:p>
            <a:pPr marL="0" indent="0" algn="l">
              <a:buNone/>
            </a:pPr>
            <a:r>
              <a:rPr lang="en-US" sz="3000" b="1" u="sng" dirty="0">
                <a:solidFill>
                  <a:schemeClr val="tx2"/>
                </a:solidFill>
              </a:rPr>
              <a:t>Edge and CI/CD</a:t>
            </a:r>
            <a:endParaRPr lang="en-US" sz="3000" u="sng" dirty="0"/>
          </a:p>
        </p:txBody>
      </p:sp>
      <p:sp>
        <p:nvSpPr>
          <p:cNvPr id="3" name="Shape 1"/>
          <p:cNvSpPr/>
          <p:nvPr/>
        </p:nvSpPr>
        <p:spPr>
          <a:xfrm>
            <a:off x="407238" y="1060062"/>
            <a:ext cx="2609339" cy="2286000"/>
          </a:xfrm>
          <a:prstGeom prst="roundRect">
            <a:avLst>
              <a:gd name="adj" fmla="val 3200"/>
            </a:avLst>
          </a:prstGeom>
          <a:solidFill>
            <a:schemeClr val="bg2"/>
          </a:solidFill>
          <a:ln w="19050">
            <a:solidFill>
              <a:schemeClr val="accent1"/>
            </a:solidFill>
            <a:prstDash val="solid"/>
          </a:ln>
        </p:spPr>
        <p:txBody>
          <a:bodyPr/>
          <a:lstStyle/>
          <a:p>
            <a:endParaRPr lang="en-US"/>
          </a:p>
        </p:txBody>
      </p:sp>
      <p:sp>
        <p:nvSpPr>
          <p:cNvPr id="4" name="Text 2"/>
          <p:cNvSpPr txBox="1"/>
          <p:nvPr/>
        </p:nvSpPr>
        <p:spPr>
          <a:xfrm>
            <a:off x="938663" y="1051560"/>
            <a:ext cx="1194397" cy="411480"/>
          </a:xfrm>
          <a:prstGeom prst="rect">
            <a:avLst/>
          </a:prstGeom>
          <a:noFill/>
          <a:ln/>
        </p:spPr>
        <p:txBody>
          <a:bodyPr wrap="square" lIns="0" tIns="0" rIns="0" bIns="0" rtlCol="0" anchor="ctr"/>
          <a:lstStyle/>
          <a:p>
            <a:pPr marL="0" indent="0">
              <a:buNone/>
            </a:pPr>
            <a:r>
              <a:rPr lang="en-US" sz="1900" b="1" dirty="0">
                <a:solidFill>
                  <a:schemeClr val="tx2"/>
                </a:solidFill>
              </a:rPr>
              <a:t>Public edge</a:t>
            </a:r>
            <a:endParaRPr lang="en-US" sz="1900" dirty="0"/>
          </a:p>
        </p:txBody>
      </p:sp>
      <p:sp>
        <p:nvSpPr>
          <p:cNvPr id="5" name="Text 3"/>
          <p:cNvSpPr txBox="1"/>
          <p:nvPr/>
        </p:nvSpPr>
        <p:spPr>
          <a:xfrm>
            <a:off x="635838" y="1545037"/>
            <a:ext cx="2380739" cy="150876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Browser, HTTPS to CloudFront, HTTP :80 to the ALB, then the dashboard pods. CloudFront gives free HTTPS with no domain. Caching is off so readings stay live.</a:t>
            </a:r>
            <a:endParaRPr lang="en-US" sz="1600" dirty="0"/>
          </a:p>
        </p:txBody>
      </p:sp>
      <p:sp>
        <p:nvSpPr>
          <p:cNvPr id="6" name="Shape 4"/>
          <p:cNvSpPr/>
          <p:nvPr/>
        </p:nvSpPr>
        <p:spPr>
          <a:xfrm>
            <a:off x="3229879" y="1060062"/>
            <a:ext cx="2883446" cy="2368938"/>
          </a:xfrm>
          <a:prstGeom prst="roundRect">
            <a:avLst>
              <a:gd name="adj" fmla="val 3200"/>
            </a:avLst>
          </a:prstGeom>
          <a:solidFill>
            <a:schemeClr val="bg2"/>
          </a:solidFill>
          <a:ln w="19050">
            <a:solidFill>
              <a:schemeClr val="accent4"/>
            </a:solidFill>
            <a:prstDash val="solid"/>
          </a:ln>
        </p:spPr>
        <p:txBody>
          <a:bodyPr/>
          <a:lstStyle/>
          <a:p>
            <a:endParaRPr lang="en-US"/>
          </a:p>
        </p:txBody>
      </p:sp>
      <p:sp>
        <p:nvSpPr>
          <p:cNvPr id="7" name="Text 5"/>
          <p:cNvSpPr txBox="1"/>
          <p:nvPr/>
        </p:nvSpPr>
        <p:spPr>
          <a:xfrm>
            <a:off x="4008276" y="1051560"/>
            <a:ext cx="1551181" cy="411480"/>
          </a:xfrm>
          <a:prstGeom prst="rect">
            <a:avLst/>
          </a:prstGeom>
          <a:noFill/>
          <a:ln/>
        </p:spPr>
        <p:txBody>
          <a:bodyPr wrap="square" lIns="0" tIns="0" rIns="0" bIns="0" rtlCol="0" anchor="ctr"/>
          <a:lstStyle/>
          <a:p>
            <a:pPr marL="0" indent="0">
              <a:buNone/>
            </a:pPr>
            <a:r>
              <a:rPr lang="en-US" sz="1900" b="1" dirty="0">
                <a:solidFill>
                  <a:schemeClr val="tx2"/>
                </a:solidFill>
              </a:rPr>
              <a:t>CI/CD pipeline</a:t>
            </a:r>
            <a:endParaRPr lang="en-US" sz="1900" dirty="0"/>
          </a:p>
        </p:txBody>
      </p:sp>
      <p:sp>
        <p:nvSpPr>
          <p:cNvPr id="8" name="Text 6"/>
          <p:cNvSpPr txBox="1"/>
          <p:nvPr/>
        </p:nvSpPr>
        <p:spPr>
          <a:xfrm>
            <a:off x="3489055" y="1545037"/>
            <a:ext cx="2589622" cy="2205086"/>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PR merged to main, GitHub Actions tests and builds three images, pushes them to Docker Hub. The cluster and the field VM pull from there. Deploys use kubectl.</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8</a:t>
            </a:fld>
            <a:endParaRPr lang="en-US"/>
          </a:p>
        </p:txBody>
      </p:sp>
      <p:pic>
        <p:nvPicPr>
          <p:cNvPr id="14" name="Picture 13">
            <a:extLst>
              <a:ext uri="{FF2B5EF4-FFF2-40B4-BE49-F238E27FC236}">
                <a16:creationId xmlns:a16="http://schemas.microsoft.com/office/drawing/2014/main" id="{4AFECA42-3058-D770-1C07-C5F92AE32DEC}"/>
              </a:ext>
            </a:extLst>
          </p:cNvPr>
          <p:cNvPicPr>
            <a:picLocks noChangeAspect="1"/>
          </p:cNvPicPr>
          <p:nvPr/>
        </p:nvPicPr>
        <p:blipFill>
          <a:blip r:embed="rId3"/>
          <a:stretch>
            <a:fillRect/>
          </a:stretch>
        </p:blipFill>
        <p:spPr>
          <a:xfrm>
            <a:off x="407238" y="4664932"/>
            <a:ext cx="10620375" cy="16383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5" name="AutoShape 2">
            <a:extLst>
              <a:ext uri="{FF2B5EF4-FFF2-40B4-BE49-F238E27FC236}">
                <a16:creationId xmlns:a16="http://schemas.microsoft.com/office/drawing/2014/main" id="{62770A48-31A7-D54E-C892-0A13B6A05629}"/>
              </a:ext>
            </a:extLst>
          </p:cNvPr>
          <p:cNvSpPr>
            <a:spLocks noChangeAspect="1" noChangeArrowheads="1"/>
          </p:cNvSpPr>
          <p:nvPr/>
        </p:nvSpPr>
        <p:spPr bwMode="auto">
          <a:xfrm>
            <a:off x="5943600" y="1376313"/>
            <a:ext cx="2116318" cy="22050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4">
            <a:extLst>
              <a:ext uri="{FF2B5EF4-FFF2-40B4-BE49-F238E27FC236}">
                <a16:creationId xmlns:a16="http://schemas.microsoft.com/office/drawing/2014/main" id="{213E8069-9AB7-FF45-DE59-BD6F24249A2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 name="Picture 19">
            <a:extLst>
              <a:ext uri="{FF2B5EF4-FFF2-40B4-BE49-F238E27FC236}">
                <a16:creationId xmlns:a16="http://schemas.microsoft.com/office/drawing/2014/main" id="{03EA4968-94D8-9AC4-5F5D-DBA0987EBB8E}"/>
              </a:ext>
            </a:extLst>
          </p:cNvPr>
          <p:cNvPicPr>
            <a:picLocks noChangeAspect="1"/>
          </p:cNvPicPr>
          <p:nvPr/>
        </p:nvPicPr>
        <p:blipFill>
          <a:blip r:embed="rId4"/>
          <a:stretch>
            <a:fillRect/>
          </a:stretch>
        </p:blipFill>
        <p:spPr>
          <a:xfrm>
            <a:off x="6291979" y="650449"/>
            <a:ext cx="5755141" cy="357319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2496218" cy="731520"/>
          </a:xfrm>
          <a:prstGeom prst="rect">
            <a:avLst/>
          </a:prstGeom>
          <a:noFill/>
          <a:ln/>
        </p:spPr>
        <p:txBody>
          <a:bodyPr wrap="square" lIns="0" tIns="0" rIns="0" bIns="0" rtlCol="0" anchor="ctr"/>
          <a:lstStyle/>
          <a:p>
            <a:pPr marL="0" indent="0" algn="l">
              <a:buNone/>
            </a:pPr>
            <a:r>
              <a:rPr lang="en-US" sz="3000" b="1" u="sng" dirty="0">
                <a:solidFill>
                  <a:schemeClr val="tx2"/>
                </a:solidFill>
              </a:rPr>
              <a:t>Source control</a:t>
            </a:r>
            <a:endParaRPr lang="en-US" sz="3000" u="sng" dirty="0"/>
          </a:p>
        </p:txBody>
      </p:sp>
      <p:sp>
        <p:nvSpPr>
          <p:cNvPr id="3" name="Text 1"/>
          <p:cNvSpPr txBox="1"/>
          <p:nvPr/>
        </p:nvSpPr>
        <p:spPr>
          <a:xfrm>
            <a:off x="96154" y="966719"/>
            <a:ext cx="2948704" cy="365760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chemeClr val="tx1"/>
                </a:solidFill>
              </a:rPr>
              <a:t>GitHub repository: Elixirman/oilgas-multicloud-monitor</a:t>
            </a:r>
            <a:endParaRPr lang="en-US" sz="1800" dirty="0"/>
          </a:p>
          <a:p>
            <a:pPr marL="342900" indent="-342900">
              <a:spcAft>
                <a:spcPts val="1400"/>
              </a:spcAft>
              <a:buSzPct val="100000"/>
              <a:buChar char="•"/>
            </a:pPr>
            <a:r>
              <a:rPr lang="en-US" sz="1400" dirty="0">
                <a:solidFill>
                  <a:schemeClr val="tx1"/>
                </a:solidFill>
              </a:rPr>
              <a:t>Feature branches for each piece of work, named by task</a:t>
            </a:r>
            <a:endParaRPr lang="en-US" sz="1800" dirty="0"/>
          </a:p>
          <a:p>
            <a:pPr marL="342900" indent="-342900">
              <a:spcAft>
                <a:spcPts val="1400"/>
              </a:spcAft>
              <a:buSzPct val="100000"/>
              <a:buChar char="•"/>
            </a:pPr>
            <a:r>
              <a:rPr lang="en-US" sz="1400" dirty="0">
                <a:solidFill>
                  <a:schemeClr val="tx1"/>
                </a:solidFill>
              </a:rPr>
              <a:t>Every change merged to main through a pull request</a:t>
            </a:r>
            <a:endParaRPr lang="en-US" sz="1800" dirty="0"/>
          </a:p>
          <a:p>
            <a:pPr marL="342900" indent="-342900">
              <a:spcAft>
                <a:spcPts val="1400"/>
              </a:spcAft>
              <a:buSzPct val="100000"/>
              <a:buChar char="•"/>
            </a:pPr>
            <a:r>
              <a:rPr lang="en-US" sz="1400" dirty="0">
                <a:solidFill>
                  <a:schemeClr val="tx1"/>
                </a:solidFill>
              </a:rPr>
              <a:t>Commit messages tagged by phase, for example [k8s] or [docs]</a:t>
            </a:r>
            <a:endParaRPr lang="en-US" sz="1800" dirty="0"/>
          </a:p>
          <a:p>
            <a:pPr marL="342900" indent="-342900">
              <a:spcAft>
                <a:spcPts val="1400"/>
              </a:spcAft>
              <a:buSzPct val="100000"/>
              <a:buChar char="•"/>
            </a:pPr>
            <a:r>
              <a:rPr lang="en-US" sz="1400" dirty="0">
                <a:solidFill>
                  <a:schemeClr val="tx1"/>
                </a:solidFill>
              </a:rPr>
              <a:t>Issues labelled by phase: network, vpn, app, k8s, edge</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9</a:t>
            </a:fld>
            <a:endParaRPr lang="en-US"/>
          </a:p>
        </p:txBody>
      </p:sp>
      <p:pic>
        <p:nvPicPr>
          <p:cNvPr id="11" name="Picture 10">
            <a:extLst>
              <a:ext uri="{FF2B5EF4-FFF2-40B4-BE49-F238E27FC236}">
                <a16:creationId xmlns:a16="http://schemas.microsoft.com/office/drawing/2014/main" id="{358F4F1B-9FD4-C24A-30F9-EB977A335046}"/>
              </a:ext>
            </a:extLst>
          </p:cNvPr>
          <p:cNvPicPr>
            <a:picLocks noChangeAspect="1"/>
          </p:cNvPicPr>
          <p:nvPr/>
        </p:nvPicPr>
        <p:blipFill>
          <a:blip r:embed="rId3"/>
          <a:stretch>
            <a:fillRect/>
          </a:stretch>
        </p:blipFill>
        <p:spPr>
          <a:xfrm>
            <a:off x="6400800" y="157200"/>
            <a:ext cx="5728335" cy="4572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70150EB2-FCD3-73DA-4DB6-D3B5E883EAEF}"/>
              </a:ext>
            </a:extLst>
          </p:cNvPr>
          <p:cNvPicPr>
            <a:picLocks noChangeAspect="1"/>
          </p:cNvPicPr>
          <p:nvPr/>
        </p:nvPicPr>
        <p:blipFill>
          <a:blip r:embed="rId4"/>
          <a:stretch>
            <a:fillRect/>
          </a:stretch>
        </p:blipFill>
        <p:spPr>
          <a:xfrm>
            <a:off x="3155966" y="447872"/>
            <a:ext cx="3133725" cy="36385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9" name="Picture 18">
            <a:extLst>
              <a:ext uri="{FF2B5EF4-FFF2-40B4-BE49-F238E27FC236}">
                <a16:creationId xmlns:a16="http://schemas.microsoft.com/office/drawing/2014/main" id="{1DB8A63F-4651-6905-8070-40C1FF53E227}"/>
              </a:ext>
            </a:extLst>
          </p:cNvPr>
          <p:cNvPicPr>
            <a:picLocks noChangeAspect="1"/>
          </p:cNvPicPr>
          <p:nvPr/>
        </p:nvPicPr>
        <p:blipFill>
          <a:blip r:embed="rId5"/>
          <a:stretch>
            <a:fillRect/>
          </a:stretch>
        </p:blipFill>
        <p:spPr>
          <a:xfrm>
            <a:off x="226243" y="4798923"/>
            <a:ext cx="11820878" cy="161120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35118" y="0"/>
            <a:ext cx="1308440" cy="731520"/>
          </a:xfrm>
          <a:prstGeom prst="rect">
            <a:avLst/>
          </a:prstGeom>
          <a:noFill/>
          <a:ln/>
        </p:spPr>
        <p:txBody>
          <a:bodyPr wrap="square" lIns="0" tIns="0" rIns="0" bIns="0" rtlCol="0" anchor="ctr"/>
          <a:lstStyle/>
          <a:p>
            <a:pPr marL="0" indent="0" algn="l">
              <a:buNone/>
            </a:pPr>
            <a:r>
              <a:rPr lang="en-US" sz="3000" b="1" u="sng" dirty="0">
                <a:solidFill>
                  <a:schemeClr val="tx2"/>
                </a:solidFill>
              </a:rPr>
              <a:t>Security</a:t>
            </a:r>
            <a:endParaRPr lang="en-US" sz="3000" u="sng"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10</a:t>
            </a:fld>
            <a:endParaRPr lang="en-US"/>
          </a:p>
        </p:txBody>
      </p:sp>
      <p:pic>
        <p:nvPicPr>
          <p:cNvPr id="9" name="Picture 8">
            <a:extLst>
              <a:ext uri="{FF2B5EF4-FFF2-40B4-BE49-F238E27FC236}">
                <a16:creationId xmlns:a16="http://schemas.microsoft.com/office/drawing/2014/main" id="{D9690B26-1469-28FB-5778-5505A3458FB0}"/>
              </a:ext>
            </a:extLst>
          </p:cNvPr>
          <p:cNvPicPr>
            <a:picLocks noChangeAspect="1"/>
          </p:cNvPicPr>
          <p:nvPr/>
        </p:nvPicPr>
        <p:blipFill>
          <a:blip r:embed="rId3"/>
          <a:stretch>
            <a:fillRect/>
          </a:stretch>
        </p:blipFill>
        <p:spPr>
          <a:xfrm>
            <a:off x="1083945" y="4493712"/>
            <a:ext cx="10163175" cy="193781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5223A923-399E-89F9-C6AF-B2A14EB6F874}"/>
              </a:ext>
            </a:extLst>
          </p:cNvPr>
          <p:cNvPicPr>
            <a:picLocks noChangeAspect="1"/>
          </p:cNvPicPr>
          <p:nvPr/>
        </p:nvPicPr>
        <p:blipFill>
          <a:blip r:embed="rId4"/>
          <a:stretch>
            <a:fillRect/>
          </a:stretch>
        </p:blipFill>
        <p:spPr>
          <a:xfrm>
            <a:off x="534500" y="3043961"/>
            <a:ext cx="10661715" cy="131609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2" name="Shape 4">
            <a:extLst>
              <a:ext uri="{FF2B5EF4-FFF2-40B4-BE49-F238E27FC236}">
                <a16:creationId xmlns:a16="http://schemas.microsoft.com/office/drawing/2014/main" id="{CBAC10DD-7246-C5F4-03AB-B823CA28F913}"/>
              </a:ext>
            </a:extLst>
          </p:cNvPr>
          <p:cNvSpPr/>
          <p:nvPr/>
        </p:nvSpPr>
        <p:spPr>
          <a:xfrm>
            <a:off x="253927" y="1047997"/>
            <a:ext cx="2341362" cy="1255633"/>
          </a:xfrm>
          <a:prstGeom prst="roundRect">
            <a:avLst>
              <a:gd name="adj" fmla="val 3200"/>
            </a:avLst>
          </a:prstGeom>
          <a:solidFill>
            <a:schemeClr val="bg2"/>
          </a:solidFill>
          <a:ln w="19050">
            <a:solidFill>
              <a:schemeClr val="accent4"/>
            </a:solidFill>
            <a:prstDash val="solid"/>
          </a:ln>
        </p:spPr>
        <p:txBody>
          <a:bodyPr/>
          <a:lstStyle/>
          <a:p>
            <a:r>
              <a:rPr lang="en-US" dirty="0"/>
              <a:t>No passwords or keys in GitHub: the real secret file and .</a:t>
            </a:r>
            <a:r>
              <a:rPr lang="en-US" dirty="0" err="1"/>
              <a:t>pem</a:t>
            </a:r>
            <a:r>
              <a:rPr lang="en-US" dirty="0"/>
              <a:t> keys are </a:t>
            </a:r>
            <a:r>
              <a:rPr lang="en-US" dirty="0" err="1"/>
              <a:t>gitignored</a:t>
            </a:r>
            <a:endParaRPr lang="en-US" dirty="0"/>
          </a:p>
          <a:p>
            <a:endParaRPr lang="en-US" dirty="0"/>
          </a:p>
        </p:txBody>
      </p:sp>
      <p:sp>
        <p:nvSpPr>
          <p:cNvPr id="13" name="Shape 4">
            <a:extLst>
              <a:ext uri="{FF2B5EF4-FFF2-40B4-BE49-F238E27FC236}">
                <a16:creationId xmlns:a16="http://schemas.microsoft.com/office/drawing/2014/main" id="{991D890B-61B9-3DE3-BFD6-66697E310865}"/>
              </a:ext>
            </a:extLst>
          </p:cNvPr>
          <p:cNvSpPr/>
          <p:nvPr/>
        </p:nvSpPr>
        <p:spPr>
          <a:xfrm>
            <a:off x="2810868" y="1788361"/>
            <a:ext cx="2341362" cy="1054213"/>
          </a:xfrm>
          <a:prstGeom prst="roundRect">
            <a:avLst>
              <a:gd name="adj" fmla="val 3200"/>
            </a:avLst>
          </a:prstGeom>
          <a:solidFill>
            <a:schemeClr val="bg2"/>
          </a:solidFill>
          <a:ln w="19050">
            <a:solidFill>
              <a:schemeClr val="accent4"/>
            </a:solidFill>
            <a:prstDash val="solid"/>
          </a:ln>
        </p:spPr>
        <p:txBody>
          <a:bodyPr/>
          <a:lstStyle/>
          <a:p>
            <a:pPr>
              <a:spcAft>
                <a:spcPts val="1400"/>
              </a:spcAft>
              <a:buSzPct val="100000"/>
            </a:pPr>
            <a:r>
              <a:rPr lang="en-US" dirty="0"/>
              <a:t>Docker Hub login kept in GitHub Actions secrets</a:t>
            </a:r>
          </a:p>
          <a:p>
            <a:endParaRPr lang="en-US" dirty="0"/>
          </a:p>
        </p:txBody>
      </p:sp>
      <p:sp>
        <p:nvSpPr>
          <p:cNvPr id="16" name="Shape 4">
            <a:extLst>
              <a:ext uri="{FF2B5EF4-FFF2-40B4-BE49-F238E27FC236}">
                <a16:creationId xmlns:a16="http://schemas.microsoft.com/office/drawing/2014/main" id="{C836E6AE-AC61-0ACB-FEAB-6F248E2175AE}"/>
              </a:ext>
            </a:extLst>
          </p:cNvPr>
          <p:cNvSpPr/>
          <p:nvPr/>
        </p:nvSpPr>
        <p:spPr>
          <a:xfrm>
            <a:off x="2759346" y="233850"/>
            <a:ext cx="2575892" cy="1406462"/>
          </a:xfrm>
          <a:prstGeom prst="roundRect">
            <a:avLst>
              <a:gd name="adj" fmla="val 3200"/>
            </a:avLst>
          </a:prstGeom>
          <a:solidFill>
            <a:schemeClr val="bg2"/>
          </a:solidFill>
          <a:ln w="19050">
            <a:solidFill>
              <a:schemeClr val="accent4"/>
            </a:solidFill>
            <a:prstDash val="solid"/>
          </a:ln>
        </p:spPr>
        <p:txBody>
          <a:bodyPr/>
          <a:lstStyle/>
          <a:p>
            <a:pPr>
              <a:spcAft>
                <a:spcPts val="1400"/>
              </a:spcAft>
              <a:buSzPct val="100000"/>
            </a:pPr>
            <a:r>
              <a:rPr lang="en-US" dirty="0"/>
              <a:t>Database credentials come from a Kubernetes Secret; the repo holds a placeholder example only</a:t>
            </a:r>
          </a:p>
          <a:p>
            <a:endParaRPr lang="en-US" dirty="0"/>
          </a:p>
        </p:txBody>
      </p:sp>
      <p:sp>
        <p:nvSpPr>
          <p:cNvPr id="17" name="Shape 4">
            <a:extLst>
              <a:ext uri="{FF2B5EF4-FFF2-40B4-BE49-F238E27FC236}">
                <a16:creationId xmlns:a16="http://schemas.microsoft.com/office/drawing/2014/main" id="{DF7A22B9-A427-26E8-0568-9D692680159C}"/>
              </a:ext>
            </a:extLst>
          </p:cNvPr>
          <p:cNvSpPr/>
          <p:nvPr/>
        </p:nvSpPr>
        <p:spPr>
          <a:xfrm>
            <a:off x="5480345" y="1812094"/>
            <a:ext cx="2341362" cy="1054213"/>
          </a:xfrm>
          <a:prstGeom prst="roundRect">
            <a:avLst>
              <a:gd name="adj" fmla="val 3200"/>
            </a:avLst>
          </a:prstGeom>
          <a:solidFill>
            <a:srgbClr val="FF0000"/>
          </a:solidFill>
          <a:ln w="19050">
            <a:solidFill>
              <a:schemeClr val="accent4"/>
            </a:solidFill>
            <a:prstDash val="solid"/>
          </a:ln>
        </p:spPr>
        <p:txBody>
          <a:bodyPr/>
          <a:lstStyle/>
          <a:p>
            <a:pPr>
              <a:spcAft>
                <a:spcPts val="1400"/>
              </a:spcAft>
              <a:buSzPct val="100000"/>
            </a:pPr>
            <a:r>
              <a:rPr lang="en-US" dirty="0">
                <a:solidFill>
                  <a:schemeClr val="bg1"/>
                </a:solidFill>
              </a:rPr>
              <a:t>An early secret commit was found and removed from tracking</a:t>
            </a:r>
          </a:p>
          <a:p>
            <a:endParaRPr lang="en-US" dirty="0"/>
          </a:p>
        </p:txBody>
      </p:sp>
      <p:sp>
        <p:nvSpPr>
          <p:cNvPr id="18" name="Shape 4">
            <a:extLst>
              <a:ext uri="{FF2B5EF4-FFF2-40B4-BE49-F238E27FC236}">
                <a16:creationId xmlns:a16="http://schemas.microsoft.com/office/drawing/2014/main" id="{4E0A7F4F-524F-5818-5FC8-250A48D9F352}"/>
              </a:ext>
            </a:extLst>
          </p:cNvPr>
          <p:cNvSpPr/>
          <p:nvPr/>
        </p:nvSpPr>
        <p:spPr>
          <a:xfrm>
            <a:off x="5480345" y="182372"/>
            <a:ext cx="2341362" cy="1530449"/>
          </a:xfrm>
          <a:prstGeom prst="roundRect">
            <a:avLst>
              <a:gd name="adj" fmla="val 3200"/>
            </a:avLst>
          </a:prstGeom>
          <a:solidFill>
            <a:schemeClr val="bg2"/>
          </a:solidFill>
          <a:ln w="19050">
            <a:solidFill>
              <a:schemeClr val="accent4"/>
            </a:solidFill>
            <a:prstDash val="solid"/>
          </a:ln>
        </p:spPr>
        <p:txBody>
          <a:bodyPr/>
          <a:lstStyle/>
          <a:p>
            <a:pPr>
              <a:spcAft>
                <a:spcPts val="1400"/>
              </a:spcAft>
              <a:buSzPct val="100000"/>
            </a:pPr>
            <a:r>
              <a:rPr lang="en-US" dirty="0"/>
              <a:t>IAM: the load balancer controller has its own IRSA role, nodes have a node role, app pods have none</a:t>
            </a:r>
          </a:p>
          <a:p>
            <a:endParaRPr lang="en-US" dirty="0"/>
          </a:p>
        </p:txBody>
      </p:sp>
      <p:sp>
        <p:nvSpPr>
          <p:cNvPr id="19" name="Shape 4">
            <a:extLst>
              <a:ext uri="{FF2B5EF4-FFF2-40B4-BE49-F238E27FC236}">
                <a16:creationId xmlns:a16="http://schemas.microsoft.com/office/drawing/2014/main" id="{EC8B2CDE-7497-10E5-C2D9-AB442A754DC4}"/>
              </a:ext>
            </a:extLst>
          </p:cNvPr>
          <p:cNvSpPr/>
          <p:nvPr/>
        </p:nvSpPr>
        <p:spPr>
          <a:xfrm>
            <a:off x="8037286" y="760796"/>
            <a:ext cx="2575892" cy="1759031"/>
          </a:xfrm>
          <a:prstGeom prst="roundRect">
            <a:avLst>
              <a:gd name="adj" fmla="val 3200"/>
            </a:avLst>
          </a:prstGeom>
          <a:solidFill>
            <a:schemeClr val="bg2"/>
          </a:solidFill>
          <a:ln w="19050">
            <a:solidFill>
              <a:schemeClr val="accent4"/>
            </a:solidFill>
            <a:prstDash val="solid"/>
          </a:ln>
        </p:spPr>
        <p:txBody>
          <a:bodyPr/>
          <a:lstStyle/>
          <a:p>
            <a:pPr>
              <a:spcAft>
                <a:spcPts val="1400"/>
              </a:spcAft>
              <a:buSzPct val="100000"/>
            </a:pPr>
            <a:r>
              <a:rPr lang="en-US" dirty="0"/>
              <a:t>Network: security groups and the NSG allow only needed ports, SSH only from the admin IP, and the VPN encrypts cross-cloud traffic</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5212080" cy="731520"/>
          </a:xfrm>
          <a:prstGeom prst="rect">
            <a:avLst/>
          </a:prstGeom>
          <a:noFill/>
          <a:ln/>
        </p:spPr>
        <p:txBody>
          <a:bodyPr wrap="square" lIns="0" tIns="0" rIns="0" bIns="0" rtlCol="0" anchor="ctr"/>
          <a:lstStyle/>
          <a:p>
            <a:pPr marL="0" indent="0" algn="l">
              <a:buNone/>
            </a:pPr>
            <a:r>
              <a:rPr lang="en-US" sz="3000" b="1" u="sng" dirty="0">
                <a:solidFill>
                  <a:schemeClr val="tx2"/>
                </a:solidFill>
              </a:rPr>
              <a:t>Monitoring and documentation</a:t>
            </a:r>
            <a:endParaRPr lang="en-US" sz="3000" u="sng" dirty="0"/>
          </a:p>
        </p:txBody>
      </p:sp>
      <p:sp>
        <p:nvSpPr>
          <p:cNvPr id="3" name="Text 1"/>
          <p:cNvSpPr txBox="1"/>
          <p:nvPr/>
        </p:nvSpPr>
        <p:spPr>
          <a:xfrm>
            <a:off x="548640" y="1125797"/>
            <a:ext cx="5486400" cy="2132814"/>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/health endpoint on the api (port 6000) and the dashboard (port 5000)</a:t>
            </a:r>
            <a:endParaRPr lang="en-US" sz="1600" dirty="0"/>
          </a:p>
          <a:p>
            <a:pPr marL="342900" indent="-342900">
              <a:spcAft>
                <a:spcPts val="1400"/>
              </a:spcAft>
              <a:buSzPct val="100000"/>
              <a:buChar char="•"/>
            </a:pPr>
            <a:r>
              <a:rPr lang="en-US" sz="1600" dirty="0">
                <a:solidFill>
                  <a:schemeClr val="tx1"/>
                </a:solidFill>
              </a:rPr>
              <a:t>Kubernetes liveness and readiness probes call /health every 10 seconds</a:t>
            </a:r>
            <a:endParaRPr lang="en-US" sz="1600" dirty="0"/>
          </a:p>
          <a:p>
            <a:pPr marL="342900" indent="-342900">
              <a:spcAft>
                <a:spcPts val="1400"/>
              </a:spcAft>
              <a:buSzPct val="100000"/>
              <a:buChar char="•"/>
            </a:pPr>
            <a:r>
              <a:rPr lang="en-US" sz="1600" dirty="0">
                <a:solidFill>
                  <a:schemeClr val="tx1"/>
                </a:solidFill>
              </a:rPr>
              <a:t>Container logs read with kubectl logs</a:t>
            </a:r>
            <a:endParaRPr lang="en-US" sz="1600" dirty="0"/>
          </a:p>
          <a:p>
            <a:pPr marL="342900" indent="-342900">
              <a:spcAft>
                <a:spcPts val="1400"/>
              </a:spcAft>
              <a:buSzPct val="100000"/>
              <a:buChar char="•"/>
            </a:pPr>
            <a:r>
              <a:rPr lang="en-US" sz="1600" dirty="0">
                <a:solidFill>
                  <a:schemeClr val="tx1"/>
                </a:solidFill>
              </a:rPr>
              <a:t>metrics-server tracks CPU and the HPA scales pods from it</a:t>
            </a:r>
            <a:endParaRPr lang="en-US" sz="1600" dirty="0"/>
          </a:p>
        </p:txBody>
      </p:sp>
      <p:sp>
        <p:nvSpPr>
          <p:cNvPr id="4" name="Shape 2"/>
          <p:cNvSpPr/>
          <p:nvPr/>
        </p:nvSpPr>
        <p:spPr>
          <a:xfrm>
            <a:off x="6773327" y="2192204"/>
            <a:ext cx="4153743" cy="1600907"/>
          </a:xfrm>
          <a:prstGeom prst="roundRect">
            <a:avLst>
              <a:gd name="adj" fmla="val 3636"/>
            </a:avLst>
          </a:prstGeom>
          <a:solidFill>
            <a:schemeClr val="bg2"/>
          </a:solidFill>
          <a:ln w="19050">
            <a:solidFill>
              <a:schemeClr val="accent1"/>
            </a:solidFill>
            <a:prstDash val="solid"/>
          </a:ln>
        </p:spPr>
        <p:txBody>
          <a:bodyPr/>
          <a:lstStyle/>
          <a:p>
            <a:endParaRPr lang="en-US"/>
          </a:p>
        </p:txBody>
      </p:sp>
      <p:sp>
        <p:nvSpPr>
          <p:cNvPr id="5" name="Text 3"/>
          <p:cNvSpPr txBox="1"/>
          <p:nvPr/>
        </p:nvSpPr>
        <p:spPr>
          <a:xfrm>
            <a:off x="7025641" y="2157716"/>
            <a:ext cx="1645449" cy="411480"/>
          </a:xfrm>
          <a:prstGeom prst="rect">
            <a:avLst/>
          </a:prstGeom>
          <a:noFill/>
          <a:ln/>
        </p:spPr>
        <p:txBody>
          <a:bodyPr wrap="square" lIns="0" tIns="0" rIns="0" bIns="0" rtlCol="0" anchor="ctr"/>
          <a:lstStyle/>
          <a:p>
            <a:pPr marL="0" indent="0">
              <a:buNone/>
            </a:pPr>
            <a:r>
              <a:rPr lang="en-US" sz="1900" b="1" dirty="0">
                <a:solidFill>
                  <a:schemeClr val="tx2"/>
                </a:solidFill>
              </a:rPr>
              <a:t>Documentation</a:t>
            </a:r>
            <a:endParaRPr lang="en-US" sz="1900" dirty="0"/>
          </a:p>
        </p:txBody>
      </p:sp>
      <p:sp>
        <p:nvSpPr>
          <p:cNvPr id="6" name="Text 4"/>
          <p:cNvSpPr txBox="1"/>
          <p:nvPr/>
        </p:nvSpPr>
        <p:spPr>
          <a:xfrm>
            <a:off x="6926894" y="2562784"/>
            <a:ext cx="3846607" cy="859746"/>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README covers architecture, setup, deployment, environment variables and troubleshooting. Also docs/REQUIREMENTS.md and the interactive docs/index.html.</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11</a:t>
            </a:fld>
            <a:endParaRPr lang="en-US"/>
          </a:p>
        </p:txBody>
      </p:sp>
      <p:pic>
        <p:nvPicPr>
          <p:cNvPr id="10" name="Picture 9">
            <a:extLst>
              <a:ext uri="{FF2B5EF4-FFF2-40B4-BE49-F238E27FC236}">
                <a16:creationId xmlns:a16="http://schemas.microsoft.com/office/drawing/2014/main" id="{AEF0C20D-6BD7-58C9-4053-C805DE06D26F}"/>
              </a:ext>
            </a:extLst>
          </p:cNvPr>
          <p:cNvPicPr>
            <a:picLocks noChangeAspect="1"/>
          </p:cNvPicPr>
          <p:nvPr/>
        </p:nvPicPr>
        <p:blipFill>
          <a:blip r:embed="rId3"/>
          <a:stretch>
            <a:fillRect/>
          </a:stretch>
        </p:blipFill>
        <p:spPr>
          <a:xfrm>
            <a:off x="274320" y="3953838"/>
            <a:ext cx="11292840" cy="2132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72510" y="84370"/>
            <a:ext cx="2317108" cy="731520"/>
          </a:xfrm>
          <a:prstGeom prst="rect">
            <a:avLst/>
          </a:prstGeom>
          <a:noFill/>
          <a:ln/>
        </p:spPr>
        <p:txBody>
          <a:bodyPr wrap="square" lIns="0" tIns="0" rIns="0" bIns="0" rtlCol="0" anchor="ctr"/>
          <a:lstStyle/>
          <a:p>
            <a:pPr marL="0" indent="0" algn="l">
              <a:buNone/>
            </a:pPr>
            <a:r>
              <a:rPr lang="en-US" sz="3000" b="1" u="sng" dirty="0">
                <a:solidFill>
                  <a:schemeClr val="tx2"/>
                </a:solidFill>
              </a:rPr>
              <a:t>Proof it works</a:t>
            </a:r>
            <a:endParaRPr lang="en-US" sz="3000" u="sng" dirty="0"/>
          </a:p>
        </p:txBody>
      </p:sp>
      <p:sp>
        <p:nvSpPr>
          <p:cNvPr id="6" name="Text 4"/>
          <p:cNvSpPr txBox="1"/>
          <p:nvPr/>
        </p:nvSpPr>
        <p:spPr>
          <a:xfrm>
            <a:off x="2634007" y="588704"/>
            <a:ext cx="1265548" cy="320040"/>
          </a:xfrm>
          <a:prstGeom prst="rect">
            <a:avLst/>
          </a:prstGeom>
          <a:noFill/>
          <a:ln/>
        </p:spPr>
        <p:txBody>
          <a:bodyPr wrap="square" lIns="0" tIns="0" rIns="0" bIns="0" rtlCol="0" anchor="ctr"/>
          <a:lstStyle/>
          <a:p>
            <a:pPr marL="0" indent="0">
              <a:buNone/>
            </a:pPr>
            <a:r>
              <a:rPr lang="en-US" sz="1400" b="1" dirty="0">
                <a:solidFill>
                  <a:schemeClr val="tx2"/>
                </a:solidFill>
              </a:rPr>
              <a:t>Ping HQ to Field</a:t>
            </a:r>
            <a:endParaRPr lang="en-US" sz="1400" dirty="0"/>
          </a:p>
        </p:txBody>
      </p:sp>
      <p:sp>
        <p:nvSpPr>
          <p:cNvPr id="9" name="Text 7"/>
          <p:cNvSpPr txBox="1"/>
          <p:nvPr/>
        </p:nvSpPr>
        <p:spPr>
          <a:xfrm>
            <a:off x="8246885" y="588704"/>
            <a:ext cx="1534684" cy="320040"/>
          </a:xfrm>
          <a:prstGeom prst="rect">
            <a:avLst/>
          </a:prstGeom>
          <a:noFill/>
          <a:ln/>
        </p:spPr>
        <p:txBody>
          <a:bodyPr wrap="square" lIns="0" tIns="0" rIns="0" bIns="0" rtlCol="0" anchor="ctr"/>
          <a:lstStyle/>
          <a:p>
            <a:pPr marL="0" indent="0">
              <a:buNone/>
            </a:pPr>
            <a:r>
              <a:rPr lang="en-US" sz="1400" b="1" dirty="0">
                <a:solidFill>
                  <a:schemeClr val="tx2"/>
                </a:solidFill>
              </a:rPr>
              <a:t>Ping Field to HQ</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12</a:t>
            </a:fld>
            <a:endParaRPr lang="en-US"/>
          </a:p>
        </p:txBody>
      </p:sp>
      <p:pic>
        <p:nvPicPr>
          <p:cNvPr id="16" name="Picture 15">
            <a:extLst>
              <a:ext uri="{FF2B5EF4-FFF2-40B4-BE49-F238E27FC236}">
                <a16:creationId xmlns:a16="http://schemas.microsoft.com/office/drawing/2014/main" id="{AD3F1D78-BCD1-D748-F56C-99B43A1FCA76}"/>
              </a:ext>
            </a:extLst>
          </p:cNvPr>
          <p:cNvPicPr>
            <a:picLocks noChangeAspect="1"/>
          </p:cNvPicPr>
          <p:nvPr/>
        </p:nvPicPr>
        <p:blipFill>
          <a:blip r:embed="rId3"/>
          <a:stretch>
            <a:fillRect/>
          </a:stretch>
        </p:blipFill>
        <p:spPr>
          <a:xfrm>
            <a:off x="398273" y="908742"/>
            <a:ext cx="5502908" cy="528443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8" name="Picture 17">
            <a:extLst>
              <a:ext uri="{FF2B5EF4-FFF2-40B4-BE49-F238E27FC236}">
                <a16:creationId xmlns:a16="http://schemas.microsoft.com/office/drawing/2014/main" id="{9782A389-2F3A-692D-DEEE-7ECFEFFFE6AA}"/>
              </a:ext>
            </a:extLst>
          </p:cNvPr>
          <p:cNvPicPr>
            <a:picLocks noChangeAspect="1"/>
          </p:cNvPicPr>
          <p:nvPr/>
        </p:nvPicPr>
        <p:blipFill>
          <a:blip r:embed="rId4"/>
          <a:stretch>
            <a:fillRect/>
          </a:stretch>
        </p:blipFill>
        <p:spPr>
          <a:xfrm>
            <a:off x="6245259" y="908741"/>
            <a:ext cx="5326143" cy="528443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27CF-F4BB-E662-BA20-3017EA096F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8706DF-F465-0DBE-BA96-812EDD92116A}"/>
              </a:ext>
            </a:extLst>
          </p:cNvPr>
          <p:cNvSpPr txBox="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u="sng" dirty="0">
                <a:solidFill>
                  <a:schemeClr val="tx2"/>
                </a:solidFill>
              </a:rPr>
              <a:t>Proof it works 2</a:t>
            </a:r>
            <a:endParaRPr lang="en-US" sz="3000" u="sng" dirty="0"/>
          </a:p>
        </p:txBody>
      </p:sp>
      <p:sp>
        <p:nvSpPr>
          <p:cNvPr id="12" name="Text 10">
            <a:extLst>
              <a:ext uri="{FF2B5EF4-FFF2-40B4-BE49-F238E27FC236}">
                <a16:creationId xmlns:a16="http://schemas.microsoft.com/office/drawing/2014/main" id="{C66E3922-046A-5187-B5F7-264F7068B477}"/>
              </a:ext>
            </a:extLst>
          </p:cNvPr>
          <p:cNvSpPr txBox="1"/>
          <p:nvPr/>
        </p:nvSpPr>
        <p:spPr>
          <a:xfrm>
            <a:off x="6080760" y="525780"/>
            <a:ext cx="5394960" cy="320040"/>
          </a:xfrm>
          <a:prstGeom prst="rect">
            <a:avLst/>
          </a:prstGeom>
          <a:noFill/>
          <a:ln/>
        </p:spPr>
        <p:txBody>
          <a:bodyPr wrap="square" lIns="0" tIns="0" rIns="0" bIns="0" rtlCol="0" anchor="ctr"/>
          <a:lstStyle/>
          <a:p>
            <a:pPr marL="0" indent="0">
              <a:buNone/>
            </a:pPr>
            <a:r>
              <a:rPr lang="en-US" sz="1600" b="1" dirty="0">
                <a:solidFill>
                  <a:schemeClr val="tx2"/>
                </a:solidFill>
              </a:rPr>
              <a:t>App data transmission test</a:t>
            </a:r>
            <a:endParaRPr lang="en-US" sz="1600" dirty="0"/>
          </a:p>
        </p:txBody>
      </p:sp>
      <p:sp>
        <p:nvSpPr>
          <p:cNvPr id="25" name="Slide Number Placeholder 0">
            <a:extLst>
              <a:ext uri="{FF2B5EF4-FFF2-40B4-BE49-F238E27FC236}">
                <a16:creationId xmlns:a16="http://schemas.microsoft.com/office/drawing/2014/main" id="{B2EBD992-7976-90E6-8F76-2F6E35D0DED4}"/>
              </a:ext>
            </a:extLst>
          </p:cNvPr>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13</a:t>
            </a:fld>
            <a:endParaRPr lang="en-US"/>
          </a:p>
        </p:txBody>
      </p:sp>
      <p:pic>
        <p:nvPicPr>
          <p:cNvPr id="15" name="Picture 14">
            <a:extLst>
              <a:ext uri="{FF2B5EF4-FFF2-40B4-BE49-F238E27FC236}">
                <a16:creationId xmlns:a16="http://schemas.microsoft.com/office/drawing/2014/main" id="{B9332885-4404-8DAD-296A-FAA04ED18837}"/>
              </a:ext>
            </a:extLst>
          </p:cNvPr>
          <p:cNvPicPr>
            <a:picLocks noChangeAspect="1"/>
          </p:cNvPicPr>
          <p:nvPr/>
        </p:nvPicPr>
        <p:blipFill>
          <a:blip r:embed="rId3"/>
          <a:stretch>
            <a:fillRect/>
          </a:stretch>
        </p:blipFill>
        <p:spPr>
          <a:xfrm>
            <a:off x="3105641" y="871500"/>
            <a:ext cx="7715250" cy="58293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083990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E10A-89CE-CB0F-4C77-B40F96A4BD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9957ED-E45B-88E9-DB7C-6FAB05DB1ADA}"/>
              </a:ext>
            </a:extLst>
          </p:cNvPr>
          <p:cNvSpPr txBox="1"/>
          <p:nvPr/>
        </p:nvSpPr>
        <p:spPr>
          <a:xfrm>
            <a:off x="182880" y="-29425"/>
            <a:ext cx="11064240" cy="731520"/>
          </a:xfrm>
          <a:prstGeom prst="rect">
            <a:avLst/>
          </a:prstGeom>
          <a:noFill/>
          <a:ln/>
        </p:spPr>
        <p:txBody>
          <a:bodyPr wrap="square" lIns="0" tIns="0" rIns="0" bIns="0" rtlCol="0" anchor="ctr"/>
          <a:lstStyle/>
          <a:p>
            <a:pPr marL="0" indent="0" algn="l">
              <a:buNone/>
            </a:pPr>
            <a:r>
              <a:rPr lang="en-US" sz="3000" b="1" u="sng" dirty="0">
                <a:solidFill>
                  <a:schemeClr val="tx2"/>
                </a:solidFill>
              </a:rPr>
              <a:t>Proof it works 3</a:t>
            </a:r>
            <a:endParaRPr lang="en-US" sz="3000" u="sng" dirty="0"/>
          </a:p>
        </p:txBody>
      </p:sp>
      <p:sp>
        <p:nvSpPr>
          <p:cNvPr id="3" name="Text 1">
            <a:extLst>
              <a:ext uri="{FF2B5EF4-FFF2-40B4-BE49-F238E27FC236}">
                <a16:creationId xmlns:a16="http://schemas.microsoft.com/office/drawing/2014/main" id="{3F7B504A-05E7-1BBE-2FC0-0237AC584086}"/>
              </a:ext>
            </a:extLst>
          </p:cNvPr>
          <p:cNvSpPr txBox="1"/>
          <p:nvPr/>
        </p:nvSpPr>
        <p:spPr>
          <a:xfrm>
            <a:off x="3017520" y="176315"/>
            <a:ext cx="5394960" cy="320040"/>
          </a:xfrm>
          <a:prstGeom prst="rect">
            <a:avLst/>
          </a:prstGeom>
          <a:noFill/>
          <a:ln/>
        </p:spPr>
        <p:txBody>
          <a:bodyPr wrap="square" lIns="0" tIns="0" rIns="0" bIns="0" rtlCol="0" anchor="ctr"/>
          <a:lstStyle/>
          <a:p>
            <a:pPr marL="0" indent="0">
              <a:buNone/>
            </a:pPr>
            <a:r>
              <a:rPr lang="en-US" sz="1400" b="1" dirty="0">
                <a:solidFill>
                  <a:schemeClr val="tx2"/>
                </a:solidFill>
              </a:rPr>
              <a:t>Live dashboard over HTTPS on AWS </a:t>
            </a:r>
            <a:r>
              <a:rPr lang="en-US" sz="1400" b="1" dirty="0" err="1">
                <a:solidFill>
                  <a:schemeClr val="tx2"/>
                </a:solidFill>
              </a:rPr>
              <a:t>Cloudfront</a:t>
            </a:r>
            <a:endParaRPr lang="en-US" sz="1400" dirty="0"/>
          </a:p>
        </p:txBody>
      </p:sp>
      <p:sp>
        <p:nvSpPr>
          <p:cNvPr id="25" name="Slide Number Placeholder 0">
            <a:extLst>
              <a:ext uri="{FF2B5EF4-FFF2-40B4-BE49-F238E27FC236}">
                <a16:creationId xmlns:a16="http://schemas.microsoft.com/office/drawing/2014/main" id="{D4B6635E-D7C3-F228-6289-67AE99C8D273}"/>
              </a:ext>
            </a:extLst>
          </p:cNvPr>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14</a:t>
            </a:fld>
            <a:endParaRPr lang="en-US"/>
          </a:p>
        </p:txBody>
      </p:sp>
      <p:pic>
        <p:nvPicPr>
          <p:cNvPr id="16" name="Picture 15">
            <a:extLst>
              <a:ext uri="{FF2B5EF4-FFF2-40B4-BE49-F238E27FC236}">
                <a16:creationId xmlns:a16="http://schemas.microsoft.com/office/drawing/2014/main" id="{B8389C87-F485-07E3-0EE3-651B557C4D72}"/>
              </a:ext>
            </a:extLst>
          </p:cNvPr>
          <p:cNvPicPr>
            <a:picLocks noChangeAspect="1"/>
          </p:cNvPicPr>
          <p:nvPr/>
        </p:nvPicPr>
        <p:blipFill>
          <a:blip r:embed="rId3"/>
          <a:stretch>
            <a:fillRect/>
          </a:stretch>
        </p:blipFill>
        <p:spPr>
          <a:xfrm>
            <a:off x="555275" y="731520"/>
            <a:ext cx="11081449" cy="566928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74451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Problems we hit and how we solved them</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535424"/>
        </p:xfrm>
        <a:graphic>
          <a:graphicData uri="http://schemas.openxmlformats.org/drawingml/2006/table">
            <a:tbl>
              <a:tblPr/>
              <a:tblGrid>
                <a:gridCol w="31089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66928">
                <a:tc>
                  <a:txBody>
                    <a:bodyPr/>
                    <a:lstStyle/>
                    <a:p>
                      <a:pPr marL="0" indent="0">
                        <a:buNone/>
                      </a:pPr>
                      <a:r>
                        <a:rPr lang="en-US" sz="1300" b="1" dirty="0">
                          <a:solidFill>
                            <a:schemeClr val="bg1"/>
                          </a:solidFill>
                        </a:rPr>
                        <a:t>Problem</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Cause</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Fix</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chemeClr val="tx1"/>
                          </a:solidFill>
                        </a:rPr>
                        <a:t>Ping failed with the VPN up</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No ICMP rule, no route propagation</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Allowed ICMP in SG and NSG, enabled propagation</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300" dirty="0">
                          <a:solidFill>
                            <a:schemeClr val="tx1"/>
                          </a:solidFill>
                        </a:rPr>
                        <a:t>Pods stuck Pending</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t3.small holds 11 pods per node</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Scaled the node group to 4</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00" dirty="0">
                          <a:solidFill>
                            <a:schemeClr val="tx1"/>
                          </a:solidFill>
                        </a:rPr>
                        <a:t>ImagePullBackOff</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Wrong image name in the manifest</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Used oilgas-dashboard-app</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300" dirty="0">
                          <a:solidFill>
                            <a:schemeClr val="tx1"/>
                          </a:solidFill>
                        </a:rPr>
                        <a:t>Ingress had no ALB</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Outdated controller IAM policy, one public subnet</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Updated policy, tagged a second subnet</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300" dirty="0">
                          <a:solidFill>
                            <a:schemeClr val="tx1"/>
                          </a:solidFill>
                        </a:rPr>
                        <a:t>API returned 500</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readings table never created</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Loaded db/schema.sql</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300" dirty="0">
                          <a:solidFill>
                            <a:schemeClr val="tx1"/>
                          </a:solidFill>
                        </a:rPr>
                        <a:t>HPA showed unknown</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No CPU requests on pods</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Added resource requests</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buNone/>
                      </a:pPr>
                      <a:r>
                        <a:rPr lang="en-US" sz="1300" dirty="0">
                          <a:solidFill>
                            <a:schemeClr val="tx1"/>
                          </a:solidFill>
                        </a:rPr>
                        <a:t>Secret in the repo</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db-secret.yaml was committed</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indent="0">
                        <a:buNone/>
                      </a:pPr>
                      <a:r>
                        <a:rPr lang="en-US" sz="1300" dirty="0">
                          <a:solidFill>
                            <a:schemeClr val="tx1"/>
                          </a:solidFill>
                        </a:rPr>
                        <a:t>Untracked it, added a placeholder example</a:t>
                      </a:r>
                      <a:endParaRPr lang="en-US" sz="1300" dirty="0"/>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Cost control, teardown and reproducibility</a:t>
            </a:r>
            <a:endParaRPr lang="en-US" sz="3000" dirty="0"/>
          </a:p>
        </p:txBody>
      </p:sp>
      <p:sp>
        <p:nvSpPr>
          <p:cNvPr id="3" name="Text 1"/>
          <p:cNvSpPr txBox="1"/>
          <p:nvPr/>
        </p:nvSpPr>
        <p:spPr>
          <a:xfrm>
            <a:off x="548640" y="1280160"/>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Teardown order</a:t>
            </a:r>
            <a:endParaRPr lang="en-US" sz="1800" dirty="0"/>
          </a:p>
        </p:txBody>
      </p:sp>
      <p:sp>
        <p:nvSpPr>
          <p:cNvPr id="4" name="Text 2"/>
          <p:cNvSpPr txBox="1"/>
          <p:nvPr/>
        </p:nvSpPr>
        <p:spPr>
          <a:xfrm>
            <a:off x="548640" y="1737360"/>
            <a:ext cx="5303520" cy="2284224"/>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600" dirty="0">
                <a:solidFill>
                  <a:schemeClr val="tx1"/>
                </a:solidFill>
              </a:rPr>
              <a:t>CloudFront</a:t>
            </a:r>
            <a:endParaRPr lang="en-US" sz="1600" dirty="0"/>
          </a:p>
          <a:p>
            <a:pPr marL="342900" indent="-342900">
              <a:spcAft>
                <a:spcPts val="600"/>
              </a:spcAft>
              <a:buSzPct val="100000"/>
              <a:buFont typeface="+mj-lt"/>
              <a:buAutoNum type="arabicPeriod"/>
            </a:pPr>
            <a:r>
              <a:rPr lang="en-US" sz="1600" dirty="0">
                <a:solidFill>
                  <a:schemeClr val="tx1"/>
                </a:solidFill>
              </a:rPr>
              <a:t>Ingress and NLB service</a:t>
            </a:r>
            <a:endParaRPr lang="en-US" sz="1600" dirty="0"/>
          </a:p>
          <a:p>
            <a:pPr marL="342900" indent="-342900">
              <a:spcAft>
                <a:spcPts val="600"/>
              </a:spcAft>
              <a:buSzPct val="100000"/>
              <a:buFont typeface="+mj-lt"/>
              <a:buAutoNum type="arabicPeriod"/>
            </a:pPr>
            <a:r>
              <a:rPr lang="en-US" sz="1600" dirty="0">
                <a:solidFill>
                  <a:schemeClr val="tx1"/>
                </a:solidFill>
              </a:rPr>
              <a:t>EKS cluster</a:t>
            </a:r>
            <a:endParaRPr lang="en-US" sz="1600" dirty="0"/>
          </a:p>
          <a:p>
            <a:pPr marL="342900" indent="-342900">
              <a:spcAft>
                <a:spcPts val="600"/>
              </a:spcAft>
              <a:buSzPct val="100000"/>
              <a:buFont typeface="+mj-lt"/>
              <a:buAutoNum type="arabicPeriod"/>
            </a:pPr>
            <a:r>
              <a:rPr lang="en-US" sz="1600" dirty="0">
                <a:solidFill>
                  <a:schemeClr val="tx1"/>
                </a:solidFill>
              </a:rPr>
              <a:t>VPN connection, then gateways</a:t>
            </a:r>
            <a:endParaRPr lang="en-US" sz="1600" dirty="0"/>
          </a:p>
          <a:p>
            <a:pPr marL="342900" indent="-342900">
              <a:spcAft>
                <a:spcPts val="600"/>
              </a:spcAft>
              <a:buSzPct val="100000"/>
              <a:buFont typeface="+mj-lt"/>
              <a:buAutoNum type="arabicPeriod"/>
            </a:pPr>
            <a:r>
              <a:rPr lang="en-US" sz="1600" dirty="0">
                <a:solidFill>
                  <a:schemeClr val="tx1"/>
                </a:solidFill>
              </a:rPr>
              <a:t>NAT gateway and Elastic IP</a:t>
            </a:r>
            <a:endParaRPr lang="en-US" sz="1600" dirty="0"/>
          </a:p>
          <a:p>
            <a:pPr marL="342900" indent="-342900">
              <a:spcAft>
                <a:spcPts val="600"/>
              </a:spcAft>
              <a:buSzPct val="100000"/>
              <a:buFont typeface="+mj-lt"/>
              <a:buAutoNum type="arabicPeriod"/>
            </a:pPr>
            <a:r>
              <a:rPr lang="en-US" sz="1600" dirty="0">
                <a:solidFill>
                  <a:schemeClr val="tx1"/>
                </a:solidFill>
              </a:rPr>
              <a:t>Azure resource group</a:t>
            </a:r>
            <a:endParaRPr lang="en-US" sz="1600" dirty="0"/>
          </a:p>
          <a:p>
            <a:pPr marL="342900" indent="-342900">
              <a:spcAft>
                <a:spcPts val="600"/>
              </a:spcAft>
              <a:buSzPct val="100000"/>
              <a:buFont typeface="+mj-lt"/>
              <a:buAutoNum type="arabicPeriod"/>
            </a:pPr>
            <a:r>
              <a:rPr lang="en-US" sz="1600" dirty="0">
                <a:solidFill>
                  <a:schemeClr val="tx1"/>
                </a:solidFill>
              </a:rPr>
              <a:t>VPC</a:t>
            </a:r>
            <a:endParaRPr lang="en-US" sz="1600" dirty="0"/>
          </a:p>
        </p:txBody>
      </p:sp>
      <p:sp>
        <p:nvSpPr>
          <p:cNvPr id="5" name="Shape 3"/>
          <p:cNvSpPr/>
          <p:nvPr/>
        </p:nvSpPr>
        <p:spPr>
          <a:xfrm>
            <a:off x="6339840" y="1014052"/>
            <a:ext cx="5303520" cy="1214243"/>
          </a:xfrm>
          <a:prstGeom prst="roundRect">
            <a:avLst>
              <a:gd name="adj" fmla="val 3333"/>
            </a:avLst>
          </a:prstGeom>
          <a:solidFill>
            <a:schemeClr val="bg2"/>
          </a:solidFill>
          <a:ln w="19050">
            <a:solidFill>
              <a:schemeClr val="accent2"/>
            </a:solidFill>
            <a:prstDash val="solid"/>
          </a:ln>
        </p:spPr>
        <p:txBody>
          <a:bodyPr/>
          <a:lstStyle/>
          <a:p>
            <a:endParaRPr lang="en-US"/>
          </a:p>
        </p:txBody>
      </p:sp>
      <p:sp>
        <p:nvSpPr>
          <p:cNvPr id="6" name="Text 4"/>
          <p:cNvSpPr txBox="1"/>
          <p:nvPr/>
        </p:nvSpPr>
        <p:spPr>
          <a:xfrm>
            <a:off x="6475816" y="1097280"/>
            <a:ext cx="4846320" cy="411480"/>
          </a:xfrm>
          <a:prstGeom prst="rect">
            <a:avLst/>
          </a:prstGeom>
          <a:noFill/>
          <a:ln/>
        </p:spPr>
        <p:txBody>
          <a:bodyPr wrap="square" lIns="0" tIns="0" rIns="0" bIns="0" rtlCol="0" anchor="ctr"/>
          <a:lstStyle/>
          <a:p>
            <a:pPr marL="0" indent="0">
              <a:buNone/>
            </a:pPr>
            <a:r>
              <a:rPr lang="en-US" sz="1900" b="1" dirty="0">
                <a:solidFill>
                  <a:schemeClr val="tx2"/>
                </a:solidFill>
              </a:rPr>
              <a:t>Cost control</a:t>
            </a:r>
            <a:endParaRPr lang="en-US" sz="1900" dirty="0"/>
          </a:p>
        </p:txBody>
      </p:sp>
      <p:sp>
        <p:nvSpPr>
          <p:cNvPr id="7" name="Text 5"/>
          <p:cNvSpPr txBox="1"/>
          <p:nvPr/>
        </p:nvSpPr>
        <p:spPr>
          <a:xfrm>
            <a:off x="6475816" y="1456826"/>
            <a:ext cx="4846320" cy="141732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NAT gateway, EKS control plane, nodes and the Azure VPN gateway bill hourly. Everything was torn down after testing and verified empty.</a:t>
            </a:r>
            <a:endParaRPr lang="en-US" sz="1600" dirty="0"/>
          </a:p>
        </p:txBody>
      </p:sp>
      <p:sp>
        <p:nvSpPr>
          <p:cNvPr id="8" name="Shape 6"/>
          <p:cNvSpPr/>
          <p:nvPr/>
        </p:nvSpPr>
        <p:spPr>
          <a:xfrm>
            <a:off x="6339840" y="2402299"/>
            <a:ext cx="5303520" cy="1026701"/>
          </a:xfrm>
          <a:prstGeom prst="roundRect">
            <a:avLst>
              <a:gd name="adj" fmla="val 3333"/>
            </a:avLst>
          </a:prstGeom>
          <a:solidFill>
            <a:schemeClr val="bg2"/>
          </a:solidFill>
          <a:ln w="19050">
            <a:solidFill>
              <a:schemeClr val="accent1"/>
            </a:solidFill>
            <a:prstDash val="solid"/>
          </a:ln>
        </p:spPr>
        <p:txBody>
          <a:bodyPr/>
          <a:lstStyle/>
          <a:p>
            <a:endParaRPr lang="en-US"/>
          </a:p>
        </p:txBody>
      </p:sp>
      <p:sp>
        <p:nvSpPr>
          <p:cNvPr id="9" name="Text 7"/>
          <p:cNvSpPr txBox="1"/>
          <p:nvPr/>
        </p:nvSpPr>
        <p:spPr>
          <a:xfrm>
            <a:off x="6475816" y="2444021"/>
            <a:ext cx="4846320" cy="411480"/>
          </a:xfrm>
          <a:prstGeom prst="rect">
            <a:avLst/>
          </a:prstGeom>
          <a:noFill/>
          <a:ln/>
        </p:spPr>
        <p:txBody>
          <a:bodyPr wrap="square" lIns="0" tIns="0" rIns="0" bIns="0" rtlCol="0" anchor="ctr"/>
          <a:lstStyle/>
          <a:p>
            <a:pPr marL="0" indent="0">
              <a:buNone/>
            </a:pPr>
            <a:r>
              <a:rPr lang="en-US" sz="1900" b="1" dirty="0">
                <a:solidFill>
                  <a:schemeClr val="tx2"/>
                </a:solidFill>
              </a:rPr>
              <a:t>Terraform (planned)</a:t>
            </a:r>
            <a:endParaRPr lang="en-US" sz="1900" dirty="0"/>
          </a:p>
        </p:txBody>
      </p:sp>
      <p:sp>
        <p:nvSpPr>
          <p:cNvPr id="10" name="Text 8"/>
          <p:cNvSpPr txBox="1"/>
          <p:nvPr/>
        </p:nvSpPr>
        <p:spPr>
          <a:xfrm>
            <a:off x="6475816" y="2868819"/>
            <a:ext cx="4846320" cy="141732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aws/, azure/ and vpn/ will rebuild the same design from code on a separate branch, proving it can be recreated.</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16</a:t>
            </a:fld>
            <a:endParaRPr lang="en-US"/>
          </a:p>
        </p:txBody>
      </p:sp>
      <p:pic>
        <p:nvPicPr>
          <p:cNvPr id="14" name="Picture 13">
            <a:extLst>
              <a:ext uri="{FF2B5EF4-FFF2-40B4-BE49-F238E27FC236}">
                <a16:creationId xmlns:a16="http://schemas.microsoft.com/office/drawing/2014/main" id="{D1305A49-2D64-9DA4-BD63-135E3984ED6B}"/>
              </a:ext>
            </a:extLst>
          </p:cNvPr>
          <p:cNvPicPr>
            <a:picLocks noChangeAspect="1"/>
          </p:cNvPicPr>
          <p:nvPr/>
        </p:nvPicPr>
        <p:blipFill>
          <a:blip r:embed="rId3"/>
          <a:stretch>
            <a:fillRect/>
          </a:stretch>
        </p:blipFill>
        <p:spPr>
          <a:xfrm>
            <a:off x="390525" y="4113024"/>
            <a:ext cx="5705475" cy="203835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6" name="Picture 15">
            <a:extLst>
              <a:ext uri="{FF2B5EF4-FFF2-40B4-BE49-F238E27FC236}">
                <a16:creationId xmlns:a16="http://schemas.microsoft.com/office/drawing/2014/main" id="{56654672-27E6-32AC-2D57-A006514DB91C}"/>
              </a:ext>
            </a:extLst>
          </p:cNvPr>
          <p:cNvPicPr>
            <a:picLocks noChangeAspect="1"/>
          </p:cNvPicPr>
          <p:nvPr/>
        </p:nvPicPr>
        <p:blipFill>
          <a:blip r:embed="rId4"/>
          <a:stretch>
            <a:fillRect/>
          </a:stretch>
        </p:blipFill>
        <p:spPr>
          <a:xfrm>
            <a:off x="6258527" y="3623421"/>
            <a:ext cx="5933473" cy="27937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331"/>
            <a:ext cx="11064240" cy="731520"/>
          </a:xfrm>
          <a:prstGeom prst="rect">
            <a:avLst/>
          </a:prstGeom>
          <a:noFill/>
          <a:ln/>
        </p:spPr>
        <p:txBody>
          <a:bodyPr wrap="square" lIns="0" tIns="0" rIns="0" bIns="0" rtlCol="0" anchor="ctr"/>
          <a:lstStyle/>
          <a:p>
            <a:pPr marL="0" indent="0" algn="l">
              <a:buNone/>
            </a:pPr>
            <a:r>
              <a:rPr lang="en-US" sz="3000" b="1" dirty="0">
                <a:solidFill>
                  <a:schemeClr val="tx2"/>
                </a:solidFill>
              </a:rPr>
              <a:t>Lessons learned and next steps</a:t>
            </a:r>
            <a:endParaRPr lang="en-US" sz="3000" dirty="0"/>
          </a:p>
        </p:txBody>
      </p:sp>
      <p:sp>
        <p:nvSpPr>
          <p:cNvPr id="3" name="Shape 1"/>
          <p:cNvSpPr/>
          <p:nvPr/>
        </p:nvSpPr>
        <p:spPr>
          <a:xfrm>
            <a:off x="548640" y="709326"/>
            <a:ext cx="5394960" cy="2421828"/>
          </a:xfrm>
          <a:prstGeom prst="roundRect">
            <a:avLst>
              <a:gd name="adj" fmla="val 1905"/>
            </a:avLst>
          </a:prstGeom>
          <a:solidFill>
            <a:schemeClr val="bg2"/>
          </a:solidFill>
          <a:ln w="19050">
            <a:solidFill>
              <a:schemeClr val="accent1"/>
            </a:solidFill>
            <a:prstDash val="solid"/>
          </a:ln>
        </p:spPr>
        <p:txBody>
          <a:bodyPr/>
          <a:lstStyle/>
          <a:p>
            <a:endParaRPr lang="en-US" dirty="0"/>
          </a:p>
        </p:txBody>
      </p:sp>
      <p:sp>
        <p:nvSpPr>
          <p:cNvPr id="4" name="Text 2"/>
          <p:cNvSpPr txBox="1"/>
          <p:nvPr/>
        </p:nvSpPr>
        <p:spPr>
          <a:xfrm>
            <a:off x="1095061" y="682693"/>
            <a:ext cx="4937760" cy="411480"/>
          </a:xfrm>
          <a:prstGeom prst="rect">
            <a:avLst/>
          </a:prstGeom>
          <a:noFill/>
          <a:ln/>
        </p:spPr>
        <p:txBody>
          <a:bodyPr wrap="square" lIns="0" tIns="0" rIns="0" bIns="0" rtlCol="0" anchor="ctr"/>
          <a:lstStyle/>
          <a:p>
            <a:pPr marL="0" indent="0">
              <a:buNone/>
            </a:pPr>
            <a:r>
              <a:rPr lang="en-US" sz="1900" b="1" dirty="0">
                <a:solidFill>
                  <a:schemeClr val="tx2"/>
                </a:solidFill>
              </a:rPr>
              <a:t>Lessons</a:t>
            </a:r>
            <a:endParaRPr lang="en-US" sz="1900" dirty="0"/>
          </a:p>
        </p:txBody>
      </p:sp>
      <p:sp>
        <p:nvSpPr>
          <p:cNvPr id="5" name="Text 3"/>
          <p:cNvSpPr txBox="1"/>
          <p:nvPr/>
        </p:nvSpPr>
        <p:spPr>
          <a:xfrm>
            <a:off x="674999" y="1120806"/>
            <a:ext cx="4937760" cy="1835458"/>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Plan pod capacity before choosing node sizes.</a:t>
            </a:r>
            <a:endParaRPr lang="en-US" sz="1700" dirty="0"/>
          </a:p>
          <a:p>
            <a:pPr marL="342900" indent="-342900">
              <a:spcAft>
                <a:spcPts val="1000"/>
              </a:spcAft>
              <a:buSzPct val="100000"/>
              <a:buChar char="•"/>
            </a:pPr>
            <a:r>
              <a:rPr lang="en-US" sz="1700" dirty="0">
                <a:solidFill>
                  <a:schemeClr val="tx1"/>
                </a:solidFill>
              </a:rPr>
              <a:t>Firewall and route rules matter as much as the VPN itself.</a:t>
            </a:r>
            <a:endParaRPr lang="en-US" sz="1700" dirty="0"/>
          </a:p>
          <a:p>
            <a:pPr marL="342900" indent="-342900">
              <a:spcAft>
                <a:spcPts val="1000"/>
              </a:spcAft>
              <a:buSzPct val="100000"/>
              <a:buChar char="•"/>
            </a:pPr>
            <a:r>
              <a:rPr lang="en-US" sz="1700" dirty="0">
                <a:solidFill>
                  <a:schemeClr val="tx1"/>
                </a:solidFill>
              </a:rPr>
              <a:t>Keep secrets out of Git from day one.</a:t>
            </a:r>
            <a:endParaRPr lang="en-US" sz="1700" dirty="0"/>
          </a:p>
          <a:p>
            <a:pPr marL="342900" indent="-342900">
              <a:spcAft>
                <a:spcPts val="1000"/>
              </a:spcAft>
              <a:buSzPct val="100000"/>
              <a:buChar char="•"/>
            </a:pPr>
            <a:r>
              <a:rPr lang="en-US" sz="1700" dirty="0">
                <a:solidFill>
                  <a:schemeClr val="tx1"/>
                </a:solidFill>
              </a:rPr>
              <a:t>Check image names and IAM policies early.</a:t>
            </a:r>
            <a:endParaRPr lang="en-US" sz="1700" dirty="0"/>
          </a:p>
        </p:txBody>
      </p:sp>
      <p:sp>
        <p:nvSpPr>
          <p:cNvPr id="6" name="Shape 4"/>
          <p:cNvSpPr/>
          <p:nvPr/>
        </p:nvSpPr>
        <p:spPr>
          <a:xfrm>
            <a:off x="6122041" y="640080"/>
            <a:ext cx="5394960" cy="2445355"/>
          </a:xfrm>
          <a:prstGeom prst="roundRect">
            <a:avLst>
              <a:gd name="adj" fmla="val 1905"/>
            </a:avLst>
          </a:prstGeom>
          <a:solidFill>
            <a:schemeClr val="bg2"/>
          </a:solidFill>
          <a:ln w="19050">
            <a:solidFill>
              <a:schemeClr val="accent2"/>
            </a:solidFill>
            <a:prstDash val="solid"/>
          </a:ln>
        </p:spPr>
        <p:txBody>
          <a:bodyPr/>
          <a:lstStyle/>
          <a:p>
            <a:endParaRPr lang="en-US"/>
          </a:p>
        </p:txBody>
      </p:sp>
      <p:sp>
        <p:nvSpPr>
          <p:cNvPr id="7" name="Text 5"/>
          <p:cNvSpPr txBox="1"/>
          <p:nvPr/>
        </p:nvSpPr>
        <p:spPr>
          <a:xfrm>
            <a:off x="6350641" y="730189"/>
            <a:ext cx="4937760" cy="411480"/>
          </a:xfrm>
          <a:prstGeom prst="rect">
            <a:avLst/>
          </a:prstGeom>
          <a:noFill/>
          <a:ln/>
        </p:spPr>
        <p:txBody>
          <a:bodyPr wrap="square" lIns="0" tIns="0" rIns="0" bIns="0" rtlCol="0" anchor="ctr"/>
          <a:lstStyle/>
          <a:p>
            <a:pPr marL="0" indent="0">
              <a:buNone/>
            </a:pPr>
            <a:r>
              <a:rPr lang="en-US" sz="1900" b="1" dirty="0">
                <a:solidFill>
                  <a:schemeClr val="tx2"/>
                </a:solidFill>
              </a:rPr>
              <a:t>Next steps and known limits</a:t>
            </a:r>
            <a:endParaRPr lang="en-US" sz="1900" dirty="0"/>
          </a:p>
        </p:txBody>
      </p:sp>
      <p:sp>
        <p:nvSpPr>
          <p:cNvPr id="8" name="Text 6"/>
          <p:cNvSpPr txBox="1"/>
          <p:nvPr/>
        </p:nvSpPr>
        <p:spPr>
          <a:xfrm>
            <a:off x="6309360" y="1105714"/>
            <a:ext cx="4937760" cy="185055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Add a persistent volume for Postgres.</a:t>
            </a:r>
            <a:endParaRPr lang="en-US" sz="1700" dirty="0"/>
          </a:p>
          <a:p>
            <a:pPr marL="342900" indent="-342900">
              <a:spcAft>
                <a:spcPts val="1000"/>
              </a:spcAft>
              <a:buSzPct val="100000"/>
              <a:buChar char="•"/>
            </a:pPr>
            <a:r>
              <a:rPr lang="en-US" sz="1700" dirty="0">
                <a:solidFill>
                  <a:schemeClr val="tx1"/>
                </a:solidFill>
              </a:rPr>
              <a:t>Load the schema automatically.</a:t>
            </a:r>
            <a:endParaRPr lang="en-US" sz="1700" dirty="0"/>
          </a:p>
          <a:p>
            <a:pPr marL="342900" indent="-342900">
              <a:spcAft>
                <a:spcPts val="1000"/>
              </a:spcAft>
              <a:buSzPct val="100000"/>
              <a:buChar char="•"/>
            </a:pPr>
            <a:r>
              <a:rPr lang="en-US" sz="1700" dirty="0">
                <a:solidFill>
                  <a:schemeClr val="tx1"/>
                </a:solidFill>
              </a:rPr>
              <a:t>Add a second tunnel and NAT for failover.</a:t>
            </a:r>
            <a:endParaRPr lang="en-US" sz="1700" dirty="0"/>
          </a:p>
          <a:p>
            <a:pPr marL="342900" indent="-342900">
              <a:spcAft>
                <a:spcPts val="1000"/>
              </a:spcAft>
              <a:buSzPct val="100000"/>
              <a:buChar char="•"/>
            </a:pPr>
            <a:r>
              <a:rPr lang="en-US" sz="1700" dirty="0">
                <a:solidFill>
                  <a:schemeClr val="tx1"/>
                </a:solidFill>
              </a:rPr>
              <a:t>Build the Terraform replica.</a:t>
            </a:r>
            <a:endParaRPr lang="en-US" sz="1700" dirty="0"/>
          </a:p>
          <a:p>
            <a:pPr marL="342900" indent="-342900">
              <a:spcAft>
                <a:spcPts val="1000"/>
              </a:spcAft>
              <a:buSzPct val="100000"/>
              <a:buChar char="•"/>
            </a:pPr>
            <a:r>
              <a:rPr lang="en-US" sz="1700" dirty="0">
                <a:solidFill>
                  <a:schemeClr val="tx1"/>
                </a:solidFill>
              </a:rPr>
              <a:t>Move secrets to a managed store.</a:t>
            </a:r>
            <a:endParaRPr lang="en-US" sz="17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17</a:t>
            </a:fld>
            <a:endParaRPr lang="en-US"/>
          </a:p>
        </p:txBody>
      </p:sp>
      <p:graphicFrame>
        <p:nvGraphicFramePr>
          <p:cNvPr id="11" name="Table 10">
            <a:extLst>
              <a:ext uri="{FF2B5EF4-FFF2-40B4-BE49-F238E27FC236}">
                <a16:creationId xmlns:a16="http://schemas.microsoft.com/office/drawing/2014/main" id="{98D77DA9-D225-C755-9177-7164C908FBB8}"/>
              </a:ext>
            </a:extLst>
          </p:cNvPr>
          <p:cNvGraphicFramePr>
            <a:graphicFrameLocks noGrp="1"/>
          </p:cNvGraphicFramePr>
          <p:nvPr>
            <p:extLst>
              <p:ext uri="{D42A27DB-BD31-4B8C-83A1-F6EECF244321}">
                <p14:modId xmlns:p14="http://schemas.microsoft.com/office/powerpoint/2010/main" val="3570444777"/>
              </p:ext>
            </p:extLst>
          </p:nvPr>
        </p:nvGraphicFramePr>
        <p:xfrm>
          <a:off x="1720987" y="3796092"/>
          <a:ext cx="8128000" cy="20624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18375476"/>
                    </a:ext>
                  </a:extLst>
                </a:gridCol>
                <a:gridCol w="4064000">
                  <a:extLst>
                    <a:ext uri="{9D8B030D-6E8A-4147-A177-3AD203B41FA5}">
                      <a16:colId xmlns:a16="http://schemas.microsoft.com/office/drawing/2014/main" val="3264860632"/>
                    </a:ext>
                  </a:extLst>
                </a:gridCol>
              </a:tblGrid>
              <a:tr h="370840">
                <a:tc gridSpan="2">
                  <a:txBody>
                    <a:bodyPr/>
                    <a:lstStyle/>
                    <a:p>
                      <a:pPr algn="ctr"/>
                      <a:r>
                        <a:rPr lang="en-US" sz="3200" dirty="0"/>
                        <a:t>Team(Group-9)</a:t>
                      </a:r>
                    </a:p>
                  </a:txBody>
                  <a:tcPr/>
                </a:tc>
                <a:tc hMerge="1">
                  <a:txBody>
                    <a:bodyPr/>
                    <a:lstStyle/>
                    <a:p>
                      <a:endParaRPr lang="en-US" dirty="0"/>
                    </a:p>
                  </a:txBody>
                  <a:tcPr/>
                </a:tc>
                <a:extLst>
                  <a:ext uri="{0D108BD9-81ED-4DB2-BD59-A6C34878D82A}">
                    <a16:rowId xmlns:a16="http://schemas.microsoft.com/office/drawing/2014/main" val="1761665016"/>
                  </a:ext>
                </a:extLst>
              </a:tr>
              <a:tr h="370840">
                <a:tc>
                  <a:txBody>
                    <a:bodyPr/>
                    <a:lstStyle/>
                    <a:p>
                      <a:r>
                        <a:rPr lang="en-US" sz="1800" b="1" i="0" u="none" kern="1200" dirty="0">
                          <a:solidFill>
                            <a:schemeClr val="dk1"/>
                          </a:solidFill>
                          <a:effectLst/>
                          <a:latin typeface="+mn-lt"/>
                          <a:ea typeface="+mn-ea"/>
                          <a:cs typeface="+mn-cs"/>
                          <a:hlinkClick r:id="rId3"/>
                        </a:rPr>
                        <a:t>Ayobami Akindolire</a:t>
                      </a:r>
                      <a:endParaRPr lang="en-US" u="none" dirty="0"/>
                    </a:p>
                  </a:txBody>
                  <a:tcPr/>
                </a:tc>
                <a:tc>
                  <a:txBody>
                    <a:bodyPr/>
                    <a:lstStyle/>
                    <a:p>
                      <a:r>
                        <a:rPr lang="en-US" sz="1800" b="1" i="0" u="sng" kern="1200" dirty="0">
                          <a:solidFill>
                            <a:schemeClr val="dk1"/>
                          </a:solidFill>
                          <a:effectLst/>
                          <a:latin typeface="+mn-lt"/>
                          <a:ea typeface="+mn-ea"/>
                          <a:cs typeface="+mn-cs"/>
                          <a:hlinkClick r:id="rId4"/>
                        </a:rPr>
                        <a:t>Olawale Idris Akinola-arch</a:t>
                      </a:r>
                      <a:endParaRPr lang="en-US" dirty="0"/>
                    </a:p>
                  </a:txBody>
                  <a:tcPr/>
                </a:tc>
                <a:extLst>
                  <a:ext uri="{0D108BD9-81ED-4DB2-BD59-A6C34878D82A}">
                    <a16:rowId xmlns:a16="http://schemas.microsoft.com/office/drawing/2014/main" val="2962485741"/>
                  </a:ext>
                </a:extLst>
              </a:tr>
              <a:tr h="370840">
                <a:tc>
                  <a:txBody>
                    <a:bodyPr/>
                    <a:lstStyle/>
                    <a:p>
                      <a:r>
                        <a:rPr lang="en-US" sz="1800" b="1" i="0" u="sng" kern="1200" dirty="0" err="1">
                          <a:solidFill>
                            <a:schemeClr val="dk1"/>
                          </a:solidFill>
                          <a:effectLst/>
                          <a:latin typeface="+mn-lt"/>
                          <a:ea typeface="+mn-ea"/>
                          <a:cs typeface="+mn-cs"/>
                          <a:hlinkClick r:id="rId5"/>
                        </a:rPr>
                        <a:t>Enyeneobong</a:t>
                      </a:r>
                      <a:r>
                        <a:rPr lang="en-US" sz="1800" b="1" i="0" u="sng" kern="1200" dirty="0">
                          <a:solidFill>
                            <a:schemeClr val="dk1"/>
                          </a:solidFill>
                          <a:effectLst/>
                          <a:latin typeface="+mn-lt"/>
                          <a:ea typeface="+mn-ea"/>
                          <a:cs typeface="+mn-cs"/>
                        </a:rPr>
                        <a:t> </a:t>
                      </a:r>
                      <a:r>
                        <a:rPr lang="en-US" sz="1800" b="1" i="0" u="sng" kern="1200" dirty="0" err="1">
                          <a:solidFill>
                            <a:schemeClr val="dk1"/>
                          </a:solidFill>
                          <a:effectLst/>
                          <a:latin typeface="+mn-lt"/>
                          <a:ea typeface="+mn-ea"/>
                          <a:cs typeface="+mn-cs"/>
                        </a:rPr>
                        <a:t>Nkwa</a:t>
                      </a:r>
                      <a:endParaRPr lang="en-US" dirty="0"/>
                    </a:p>
                  </a:txBody>
                  <a:tcPr/>
                </a:tc>
                <a:tc>
                  <a:txBody>
                    <a:bodyPr/>
                    <a:lstStyle/>
                    <a:p>
                      <a:r>
                        <a:rPr lang="en-US" sz="1800" b="1" i="0" u="none" kern="1200" dirty="0">
                          <a:solidFill>
                            <a:schemeClr val="dk1"/>
                          </a:solidFill>
                          <a:effectLst/>
                          <a:latin typeface="+mn-lt"/>
                          <a:ea typeface="+mn-ea"/>
                          <a:cs typeface="+mn-cs"/>
                          <a:hlinkClick r:id="rId6"/>
                        </a:rPr>
                        <a:t>John Pamisi</a:t>
                      </a:r>
                      <a:endParaRPr lang="en-US" u="none" dirty="0"/>
                    </a:p>
                  </a:txBody>
                  <a:tcPr/>
                </a:tc>
                <a:extLst>
                  <a:ext uri="{0D108BD9-81ED-4DB2-BD59-A6C34878D82A}">
                    <a16:rowId xmlns:a16="http://schemas.microsoft.com/office/drawing/2014/main" val="1512948949"/>
                  </a:ext>
                </a:extLst>
              </a:tr>
              <a:tr h="370840">
                <a:tc>
                  <a:txBody>
                    <a:bodyPr/>
                    <a:lstStyle/>
                    <a:p>
                      <a:r>
                        <a:rPr lang="en-US" sz="1800" b="1" i="0" u="sng" kern="1200" dirty="0">
                          <a:solidFill>
                            <a:schemeClr val="dk1"/>
                          </a:solidFill>
                          <a:effectLst/>
                          <a:latin typeface="+mn-lt"/>
                          <a:ea typeface="+mn-ea"/>
                          <a:cs typeface="+mn-cs"/>
                          <a:hlinkClick r:id="rId7"/>
                        </a:rPr>
                        <a:t>Esther Sopuruchi Justice</a:t>
                      </a:r>
                      <a:endParaRPr lang="en-US" dirty="0"/>
                    </a:p>
                  </a:txBody>
                  <a:tcPr/>
                </a:tc>
                <a:tc>
                  <a:txBody>
                    <a:bodyPr/>
                    <a:lstStyle/>
                    <a:p>
                      <a:r>
                        <a:rPr lang="en-US" sz="1800" b="1" i="0" u="sng" kern="1200" dirty="0">
                          <a:solidFill>
                            <a:schemeClr val="dk1"/>
                          </a:solidFill>
                          <a:effectLst/>
                          <a:latin typeface="+mn-lt"/>
                          <a:ea typeface="+mn-ea"/>
                          <a:cs typeface="+mn-cs"/>
                          <a:hlinkClick r:id="rId8"/>
                        </a:rPr>
                        <a:t>Abundant Joel</a:t>
                      </a:r>
                      <a:endParaRPr lang="en-US" dirty="0"/>
                    </a:p>
                  </a:txBody>
                  <a:tcPr/>
                </a:tc>
                <a:extLst>
                  <a:ext uri="{0D108BD9-81ED-4DB2-BD59-A6C34878D82A}">
                    <a16:rowId xmlns:a16="http://schemas.microsoft.com/office/drawing/2014/main" val="4238224271"/>
                  </a:ext>
                </a:extLst>
              </a:tr>
              <a:tr h="370840">
                <a:tc>
                  <a:txBody>
                    <a:bodyPr/>
                    <a:lstStyle/>
                    <a:p>
                      <a:r>
                        <a:rPr lang="en-US" sz="1800" b="1" i="0" u="sng" kern="1200" dirty="0">
                          <a:solidFill>
                            <a:schemeClr val="dk1"/>
                          </a:solidFill>
                          <a:effectLst/>
                          <a:latin typeface="+mn-lt"/>
                          <a:ea typeface="+mn-ea"/>
                          <a:cs typeface="+mn-cs"/>
                          <a:hlinkClick r:id="rId9"/>
                        </a:rPr>
                        <a:t>Dr. Muhammad Bello </a:t>
                      </a:r>
                      <a:r>
                        <a:rPr lang="en-US" sz="1800" b="1" i="0" u="sng" kern="1200" dirty="0" err="1">
                          <a:solidFill>
                            <a:schemeClr val="dk1"/>
                          </a:solidFill>
                          <a:effectLst/>
                          <a:latin typeface="+mn-lt"/>
                          <a:ea typeface="+mn-ea"/>
                          <a:cs typeface="+mn-cs"/>
                          <a:hlinkClick r:id="rId9"/>
                        </a:rPr>
                        <a:t>Kusharki</a:t>
                      </a:r>
                      <a:endParaRPr lang="en-US" dirty="0"/>
                    </a:p>
                  </a:txBody>
                  <a:tcPr/>
                </a:tc>
                <a:tc>
                  <a:txBody>
                    <a:bodyPr/>
                    <a:lstStyle/>
                    <a:p>
                      <a:r>
                        <a:rPr lang="en-US" sz="1800" b="1" i="0" u="sng" kern="1200" dirty="0">
                          <a:solidFill>
                            <a:schemeClr val="dk1"/>
                          </a:solidFill>
                          <a:effectLst/>
                          <a:latin typeface="+mn-lt"/>
                          <a:ea typeface="+mn-ea"/>
                          <a:cs typeface="+mn-cs"/>
                          <a:hlinkClick r:id="rId8"/>
                        </a:rPr>
                        <a:t> Adesanya Oluwaseun Michael</a:t>
                      </a:r>
                      <a:endParaRPr lang="en-US" dirty="0"/>
                    </a:p>
                  </a:txBody>
                  <a:tcPr/>
                </a:tc>
                <a:extLst>
                  <a:ext uri="{0D108BD9-81ED-4DB2-BD59-A6C34878D82A}">
                    <a16:rowId xmlns:a16="http://schemas.microsoft.com/office/drawing/2014/main" val="297069636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62AC-EFBF-02F6-557C-FFAC56271F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2F8595-8744-674A-A04C-F95DC9B97A8D}"/>
              </a:ext>
            </a:extLst>
          </p:cNvPr>
          <p:cNvSpPr txBox="1"/>
          <p:nvPr/>
        </p:nvSpPr>
        <p:spPr>
          <a:xfrm>
            <a:off x="548640" y="-1332"/>
            <a:ext cx="11064240" cy="1421100"/>
          </a:xfrm>
          <a:prstGeom prst="rect">
            <a:avLst/>
          </a:prstGeom>
          <a:noFill/>
          <a:ln/>
        </p:spPr>
        <p:txBody>
          <a:bodyPr wrap="square" lIns="0" tIns="0" rIns="0" bIns="0" rtlCol="0" anchor="ctr"/>
          <a:lstStyle/>
          <a:p>
            <a:pPr marL="0" indent="0" algn="ctr">
              <a:buNone/>
            </a:pPr>
            <a:r>
              <a:rPr lang="en-US" sz="7200" b="1" dirty="0">
                <a:solidFill>
                  <a:schemeClr val="tx2"/>
                </a:solidFill>
              </a:rPr>
              <a:t>Thank You</a:t>
            </a:r>
            <a:endParaRPr lang="en-US" sz="7200" dirty="0"/>
          </a:p>
        </p:txBody>
      </p:sp>
      <p:sp>
        <p:nvSpPr>
          <p:cNvPr id="6" name="Shape 4">
            <a:extLst>
              <a:ext uri="{FF2B5EF4-FFF2-40B4-BE49-F238E27FC236}">
                <a16:creationId xmlns:a16="http://schemas.microsoft.com/office/drawing/2014/main" id="{A08B576E-A27D-871F-E563-CD1BCCF006E3}"/>
              </a:ext>
            </a:extLst>
          </p:cNvPr>
          <p:cNvSpPr/>
          <p:nvPr/>
        </p:nvSpPr>
        <p:spPr>
          <a:xfrm>
            <a:off x="3559039" y="2992877"/>
            <a:ext cx="5394960" cy="2445355"/>
          </a:xfrm>
          <a:prstGeom prst="roundRect">
            <a:avLst>
              <a:gd name="adj" fmla="val 1905"/>
            </a:avLst>
          </a:prstGeom>
          <a:solidFill>
            <a:schemeClr val="bg2"/>
          </a:solidFill>
          <a:ln w="19050">
            <a:solidFill>
              <a:schemeClr val="accent2"/>
            </a:solidFill>
            <a:prstDash val="solid"/>
          </a:ln>
        </p:spPr>
        <p:txBody>
          <a:bodyPr/>
          <a:lstStyle/>
          <a:p>
            <a:endParaRPr lang="en-US"/>
          </a:p>
        </p:txBody>
      </p:sp>
      <p:sp>
        <p:nvSpPr>
          <p:cNvPr id="25" name="Slide Number Placeholder 0">
            <a:extLst>
              <a:ext uri="{FF2B5EF4-FFF2-40B4-BE49-F238E27FC236}">
                <a16:creationId xmlns:a16="http://schemas.microsoft.com/office/drawing/2014/main" id="{623EEE87-31D1-CEA6-AD14-5122734A7C60}"/>
              </a:ext>
            </a:extLst>
          </p:cNvPr>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18</a:t>
            </a:fld>
            <a:endParaRPr lang="en-US"/>
          </a:p>
        </p:txBody>
      </p:sp>
      <p:pic>
        <p:nvPicPr>
          <p:cNvPr id="12" name="Picture 11">
            <a:extLst>
              <a:ext uri="{FF2B5EF4-FFF2-40B4-BE49-F238E27FC236}">
                <a16:creationId xmlns:a16="http://schemas.microsoft.com/office/drawing/2014/main" id="{D00A1E6F-5254-D917-F182-4827D1E498DA}"/>
              </a:ext>
            </a:extLst>
          </p:cNvPr>
          <p:cNvPicPr>
            <a:picLocks noChangeAspect="1"/>
          </p:cNvPicPr>
          <p:nvPr/>
        </p:nvPicPr>
        <p:blipFill>
          <a:blip r:embed="rId3"/>
          <a:stretch>
            <a:fillRect/>
          </a:stretch>
        </p:blipFill>
        <p:spPr>
          <a:xfrm>
            <a:off x="1955259" y="1182988"/>
            <a:ext cx="8501975" cy="5217812"/>
          </a:xfrm>
          <a:prstGeom prst="rect">
            <a:avLst/>
          </a:prstGeom>
        </p:spPr>
      </p:pic>
    </p:spTree>
    <p:extLst>
      <p:ext uri="{BB962C8B-B14F-4D97-AF65-F5344CB8AC3E}">
        <p14:creationId xmlns:p14="http://schemas.microsoft.com/office/powerpoint/2010/main" val="3301484487"/>
      </p:ext>
    </p:extLst>
  </p:cSld>
  <p:clrMapOvr>
    <a:masterClrMapping/>
  </p:clrMapOvr>
</p:sld>
</file>

<file path=ppt/theme/theme1.xml><?xml version="1.0" encoding="utf-8"?>
<a:theme xmlns:a="http://schemas.openxmlformats.org/drawingml/2006/main" name="OilGasMultiCloud">
  <a:themeElements>
    <a:clrScheme name="OilGasMultiCloud">
      <a:dk1>
        <a:srgbClr val="0F172A"/>
      </a:dk1>
      <a:lt1>
        <a:srgbClr val="FFFFFF"/>
      </a:lt1>
      <a:dk2>
        <a:srgbClr val="0C4A6E"/>
      </a:dk2>
      <a:lt2>
        <a:srgbClr val="F0F9FF"/>
      </a:lt2>
      <a:accent1>
        <a:srgbClr val="0EA5E9"/>
      </a:accent1>
      <a:accent2>
        <a:srgbClr val="FF9900"/>
      </a:accent2>
      <a:accent3>
        <a:srgbClr val="0078D4"/>
      </a:accent3>
      <a:accent4>
        <a:srgbClr val="2496ED"/>
      </a:accent4>
      <a:accent5>
        <a:srgbClr val="64748B"/>
      </a:accent5>
      <a:accent6>
        <a:srgbClr val="16A34A"/>
      </a:accent6>
      <a:hlink>
        <a:srgbClr val="0EA5E9"/>
      </a:hlink>
      <a:folHlink>
        <a:srgbClr val="64748B"/>
      </a:folHlink>
    </a:clrScheme>
    <a:fontScheme name="OilGasMultiClou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1622</TotalTime>
  <Words>2851</Words>
  <Application>Microsoft Office PowerPoint</Application>
  <PresentationFormat>Widescreen</PresentationFormat>
  <Paragraphs>268</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OilGasMultiCloud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Multi-Cloud Oil &amp; Gas Pipeline Monitoring</dc:title>
  <dc:subject>PptxGenJS Presentation</dc:subject>
  <dc:creator>PptxGenJS</dc:creator>
  <cp:lastModifiedBy>O.Michael Adesanya</cp:lastModifiedBy>
  <cp:revision>41</cp:revision>
  <dcterms:created xsi:type="dcterms:W3CDTF">2026-10-12T20:19:38Z</dcterms:created>
  <dcterms:modified xsi:type="dcterms:W3CDTF">2026-10-18T13:35:07Z</dcterms:modified>
</cp:coreProperties>
</file>